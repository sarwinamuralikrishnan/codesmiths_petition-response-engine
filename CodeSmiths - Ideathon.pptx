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548D9D-3EB5-C8DC-CA5F-F5E2E4DA4DE8}" v="813" dt="2025-10-05T11:43:27.859"/>
    <p1510:client id="{EBD26805-639E-0741-A001-3F26738EA827}" v="6" dt="2025-10-05T11:50:23.4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hiya priya Magesh kumar" userId="ce5a1624-005e-4311-bb17-08a64537d4ae" providerId="ADAL" clId="{545AAD30-9D93-3CD6-B7DF-1CB40118650E}"/>
    <pc:docChg chg="modSld">
      <pc:chgData name="Sathiya priya Magesh kumar" userId="ce5a1624-005e-4311-bb17-08a64537d4ae" providerId="ADAL" clId="{545AAD30-9D93-3CD6-B7DF-1CB40118650E}" dt="2025-10-05T11:50:23.403" v="5" actId="14100"/>
      <pc:docMkLst>
        <pc:docMk/>
      </pc:docMkLst>
      <pc:sldChg chg="modSp">
        <pc:chgData name="Sathiya priya Magesh kumar" userId="ce5a1624-005e-4311-bb17-08a64537d4ae" providerId="ADAL" clId="{545AAD30-9D93-3CD6-B7DF-1CB40118650E}" dt="2025-10-05T11:05:26.955" v="2" actId="688"/>
        <pc:sldMkLst>
          <pc:docMk/>
          <pc:sldMk cId="0" sldId="258"/>
        </pc:sldMkLst>
        <pc:spChg chg="mod">
          <ac:chgData name="Sathiya priya Magesh kumar" userId="ce5a1624-005e-4311-bb17-08a64537d4ae" providerId="ADAL" clId="{545AAD30-9D93-3CD6-B7DF-1CB40118650E}" dt="2025-10-05T11:05:26.955" v="2" actId="688"/>
          <ac:spMkLst>
            <pc:docMk/>
            <pc:sldMk cId="0" sldId="258"/>
            <ac:spMk id="3" creationId="{00000000-0000-0000-0000-000000000000}"/>
          </ac:spMkLst>
        </pc:spChg>
      </pc:sldChg>
      <pc:sldChg chg="modSp">
        <pc:chgData name="Sathiya priya Magesh kumar" userId="ce5a1624-005e-4311-bb17-08a64537d4ae" providerId="ADAL" clId="{545AAD30-9D93-3CD6-B7DF-1CB40118650E}" dt="2025-10-05T11:50:23.403" v="5" actId="14100"/>
        <pc:sldMkLst>
          <pc:docMk/>
          <pc:sldMk cId="0" sldId="261"/>
        </pc:sldMkLst>
        <pc:spChg chg="mod">
          <ac:chgData name="Sathiya priya Magesh kumar" userId="ce5a1624-005e-4311-bb17-08a64537d4ae" providerId="ADAL" clId="{545AAD30-9D93-3CD6-B7DF-1CB40118650E}" dt="2025-10-05T11:49:10.423" v="4" actId="14100"/>
          <ac:spMkLst>
            <pc:docMk/>
            <pc:sldMk cId="0" sldId="261"/>
            <ac:spMk id="2" creationId="{00000000-0000-0000-0000-000000000000}"/>
          </ac:spMkLst>
        </pc:spChg>
        <pc:graphicFrameChg chg="mod modGraphic">
          <ac:chgData name="Sathiya priya Magesh kumar" userId="ce5a1624-005e-4311-bb17-08a64537d4ae" providerId="ADAL" clId="{545AAD30-9D93-3CD6-B7DF-1CB40118650E}" dt="2025-10-05T11:50:23.403" v="5" actId="14100"/>
          <ac:graphicFrameMkLst>
            <pc:docMk/>
            <pc:sldMk cId="0" sldId="261"/>
            <ac:graphicFrameMk id="4" creationId="{00000000-0000-0000-0000-000000000000}"/>
          </ac:graphicFrameMkLst>
        </pc:graphicFrameChg>
      </pc:sldChg>
    </pc:docChg>
  </pc:docChgLst>
  <pc:docChgLst>
    <pc:chgData name="Sriharipriya Prasath" userId="S::24uam157shpriya@soi.kgkite.ac.in::a9961d3b-4849-448d-a70e-7c2cf4e32a66" providerId="AD" clId="Web-{B7548D9D-3EB5-C8DC-CA5F-F5E2E4DA4DE8}"/>
    <pc:docChg chg="addSld delSld modSld">
      <pc:chgData name="Sriharipriya Prasath" userId="S::24uam157shpriya@soi.kgkite.ac.in::a9961d3b-4849-448d-a70e-7c2cf4e32a66" providerId="AD" clId="Web-{B7548D9D-3EB5-C8DC-CA5F-F5E2E4DA4DE8}" dt="2025-10-05T11:43:25.421" v="637" actId="20577"/>
      <pc:docMkLst>
        <pc:docMk/>
      </pc:docMkLst>
      <pc:sldChg chg="modSp">
        <pc:chgData name="Sriharipriya Prasath" userId="S::24uam157shpriya@soi.kgkite.ac.in::a9961d3b-4849-448d-a70e-7c2cf4e32a66" providerId="AD" clId="Web-{B7548D9D-3EB5-C8DC-CA5F-F5E2E4DA4DE8}" dt="2025-10-05T10:38:56.100" v="133" actId="20577"/>
        <pc:sldMkLst>
          <pc:docMk/>
          <pc:sldMk cId="0" sldId="256"/>
        </pc:sldMkLst>
        <pc:spChg chg="mod">
          <ac:chgData name="Sriharipriya Prasath" userId="S::24uam157shpriya@soi.kgkite.ac.in::a9961d3b-4849-448d-a70e-7c2cf4e32a66" providerId="AD" clId="Web-{B7548D9D-3EB5-C8DC-CA5F-F5E2E4DA4DE8}" dt="2025-10-05T10:38:56.100" v="133" actId="20577"/>
          <ac:spMkLst>
            <pc:docMk/>
            <pc:sldMk cId="0" sldId="256"/>
            <ac:spMk id="3" creationId="{00000000-0000-0000-0000-000000000000}"/>
          </ac:spMkLst>
        </pc:spChg>
      </pc:sldChg>
      <pc:sldChg chg="del">
        <pc:chgData name="Sriharipriya Prasath" userId="S::24uam157shpriya@soi.kgkite.ac.in::a9961d3b-4849-448d-a70e-7c2cf4e32a66" providerId="AD" clId="Web-{B7548D9D-3EB5-C8DC-CA5F-F5E2E4DA4DE8}" dt="2025-10-05T10:39:00.381" v="134"/>
        <pc:sldMkLst>
          <pc:docMk/>
          <pc:sldMk cId="0" sldId="257"/>
        </pc:sldMkLst>
      </pc:sldChg>
      <pc:sldChg chg="modSp">
        <pc:chgData name="Sriharipriya Prasath" userId="S::24uam157shpriya@soi.kgkite.ac.in::a9961d3b-4849-448d-a70e-7c2cf4e32a66" providerId="AD" clId="Web-{B7548D9D-3EB5-C8DC-CA5F-F5E2E4DA4DE8}" dt="2025-10-05T10:51:05.196" v="234" actId="20577"/>
        <pc:sldMkLst>
          <pc:docMk/>
          <pc:sldMk cId="0" sldId="258"/>
        </pc:sldMkLst>
        <pc:spChg chg="mod">
          <ac:chgData name="Sriharipriya Prasath" userId="S::24uam157shpriya@soi.kgkite.ac.in::a9961d3b-4849-448d-a70e-7c2cf4e32a66" providerId="AD" clId="Web-{B7548D9D-3EB5-C8DC-CA5F-F5E2E4DA4DE8}" dt="2025-10-05T10:46:12.680" v="203" actId="1076"/>
          <ac:spMkLst>
            <pc:docMk/>
            <pc:sldMk cId="0" sldId="258"/>
            <ac:spMk id="2" creationId="{00000000-0000-0000-0000-000000000000}"/>
          </ac:spMkLst>
        </pc:spChg>
        <pc:spChg chg="mod">
          <ac:chgData name="Sriharipriya Prasath" userId="S::24uam157shpriya@soi.kgkite.ac.in::a9961d3b-4849-448d-a70e-7c2cf4e32a66" providerId="AD" clId="Web-{B7548D9D-3EB5-C8DC-CA5F-F5E2E4DA4DE8}" dt="2025-10-05T10:51:05.196" v="234" actId="20577"/>
          <ac:spMkLst>
            <pc:docMk/>
            <pc:sldMk cId="0" sldId="258"/>
            <ac:spMk id="3" creationId="{00000000-0000-0000-0000-000000000000}"/>
          </ac:spMkLst>
        </pc:spChg>
      </pc:sldChg>
      <pc:sldChg chg="modSp add del">
        <pc:chgData name="Sriharipriya Prasath" userId="S::24uam157shpriya@soi.kgkite.ac.in::a9961d3b-4849-448d-a70e-7c2cf4e32a66" providerId="AD" clId="Web-{B7548D9D-3EB5-C8DC-CA5F-F5E2E4DA4DE8}" dt="2025-10-05T10:51:47.040" v="239" actId="20577"/>
        <pc:sldMkLst>
          <pc:docMk/>
          <pc:sldMk cId="0" sldId="259"/>
        </pc:sldMkLst>
        <pc:spChg chg="mod">
          <ac:chgData name="Sriharipriya Prasath" userId="S::24uam157shpriya@soi.kgkite.ac.in::a9961d3b-4849-448d-a70e-7c2cf4e32a66" providerId="AD" clId="Web-{B7548D9D-3EB5-C8DC-CA5F-F5E2E4DA4DE8}" dt="2025-10-05T10:51:47.040" v="239" actId="20577"/>
          <ac:spMkLst>
            <pc:docMk/>
            <pc:sldMk cId="0" sldId="259"/>
            <ac:spMk id="2" creationId="{00000000-0000-0000-0000-000000000000}"/>
          </ac:spMkLst>
        </pc:spChg>
        <pc:spChg chg="mod">
          <ac:chgData name="Sriharipriya Prasath" userId="S::24uam157shpriya@soi.kgkite.ac.in::a9961d3b-4849-448d-a70e-7c2cf4e32a66" providerId="AD" clId="Web-{B7548D9D-3EB5-C8DC-CA5F-F5E2E4DA4DE8}" dt="2025-10-05T10:51:39.009" v="235" actId="20577"/>
          <ac:spMkLst>
            <pc:docMk/>
            <pc:sldMk cId="0" sldId="259"/>
            <ac:spMk id="3" creationId="{00000000-0000-0000-0000-000000000000}"/>
          </ac:spMkLst>
        </pc:spChg>
      </pc:sldChg>
      <pc:sldChg chg="modSp add del">
        <pc:chgData name="Sriharipriya Prasath" userId="S::24uam157shpriya@soi.kgkite.ac.in::a9961d3b-4849-448d-a70e-7c2cf4e32a66" providerId="AD" clId="Web-{B7548D9D-3EB5-C8DC-CA5F-F5E2E4DA4DE8}" dt="2025-10-05T11:43:25.421" v="637" actId="20577"/>
        <pc:sldMkLst>
          <pc:docMk/>
          <pc:sldMk cId="0" sldId="260"/>
        </pc:sldMkLst>
        <pc:spChg chg="mod">
          <ac:chgData name="Sriharipriya Prasath" userId="S::24uam157shpriya@soi.kgkite.ac.in::a9961d3b-4849-448d-a70e-7c2cf4e32a66" providerId="AD" clId="Web-{B7548D9D-3EB5-C8DC-CA5F-F5E2E4DA4DE8}" dt="2025-10-05T11:43:25.421" v="637" actId="20577"/>
          <ac:spMkLst>
            <pc:docMk/>
            <pc:sldMk cId="0" sldId="260"/>
            <ac:spMk id="2" creationId="{00000000-0000-0000-0000-000000000000}"/>
          </ac:spMkLst>
        </pc:spChg>
        <pc:graphicFrameChg chg="mod modGraphic">
          <ac:chgData name="Sriharipriya Prasath" userId="S::24uam157shpriya@soi.kgkite.ac.in::a9961d3b-4849-448d-a70e-7c2cf4e32a66" providerId="AD" clId="Web-{B7548D9D-3EB5-C8DC-CA5F-F5E2E4DA4DE8}" dt="2025-10-05T10:58:52.486" v="267"/>
          <ac:graphicFrameMkLst>
            <pc:docMk/>
            <pc:sldMk cId="0" sldId="260"/>
            <ac:graphicFrameMk id="3" creationId="{00000000-0000-0000-0000-000000000000}"/>
          </ac:graphicFrameMkLst>
        </pc:graphicFrameChg>
      </pc:sldChg>
      <pc:sldChg chg="addSp delSp modSp add del">
        <pc:chgData name="Sriharipriya Prasath" userId="S::24uam157shpriya@soi.kgkite.ac.in::a9961d3b-4849-448d-a70e-7c2cf4e32a66" providerId="AD" clId="Web-{B7548D9D-3EB5-C8DC-CA5F-F5E2E4DA4DE8}" dt="2025-10-05T11:43:20.749" v="636" actId="20577"/>
        <pc:sldMkLst>
          <pc:docMk/>
          <pc:sldMk cId="0" sldId="261"/>
        </pc:sldMkLst>
        <pc:spChg chg="mod">
          <ac:chgData name="Sriharipriya Prasath" userId="S::24uam157shpriya@soi.kgkite.ac.in::a9961d3b-4849-448d-a70e-7c2cf4e32a66" providerId="AD" clId="Web-{B7548D9D-3EB5-C8DC-CA5F-F5E2E4DA4DE8}" dt="2025-10-05T11:43:20.749" v="636" actId="20577"/>
          <ac:spMkLst>
            <pc:docMk/>
            <pc:sldMk cId="0" sldId="261"/>
            <ac:spMk id="2" creationId="{00000000-0000-0000-0000-000000000000}"/>
          </ac:spMkLst>
        </pc:spChg>
        <pc:spChg chg="del">
          <ac:chgData name="Sriharipriya Prasath" userId="S::24uam157shpriya@soi.kgkite.ac.in::a9961d3b-4849-448d-a70e-7c2cf4e32a66" providerId="AD" clId="Web-{B7548D9D-3EB5-C8DC-CA5F-F5E2E4DA4DE8}" dt="2025-10-05T10:59:40.221" v="273"/>
          <ac:spMkLst>
            <pc:docMk/>
            <pc:sldMk cId="0" sldId="261"/>
            <ac:spMk id="3" creationId="{00000000-0000-0000-0000-000000000000}"/>
          </ac:spMkLst>
        </pc:spChg>
        <pc:graphicFrameChg chg="mod modGraphic">
          <ac:chgData name="Sriharipriya Prasath" userId="S::24uam157shpriya@soi.kgkite.ac.in::a9961d3b-4849-448d-a70e-7c2cf4e32a66" providerId="AD" clId="Web-{B7548D9D-3EB5-C8DC-CA5F-F5E2E4DA4DE8}" dt="2025-10-05T11:03:27.633" v="345"/>
          <ac:graphicFrameMkLst>
            <pc:docMk/>
            <pc:sldMk cId="0" sldId="261"/>
            <ac:graphicFrameMk id="4" creationId="{00000000-0000-0000-0000-000000000000}"/>
          </ac:graphicFrameMkLst>
        </pc:graphicFrameChg>
        <pc:graphicFrameChg chg="add mod ord modGraphic">
          <ac:chgData name="Sriharipriya Prasath" userId="S::24uam157shpriya@soi.kgkite.ac.in::a9961d3b-4849-448d-a70e-7c2cf4e32a66" providerId="AD" clId="Web-{B7548D9D-3EB5-C8DC-CA5F-F5E2E4DA4DE8}" dt="2025-10-05T10:59:40.221" v="273"/>
          <ac:graphicFrameMkLst>
            <pc:docMk/>
            <pc:sldMk cId="0" sldId="261"/>
            <ac:graphicFrameMk id="6" creationId="{C3C842AC-DC33-AA4D-7AA6-197F26BF4412}"/>
          </ac:graphicFrameMkLst>
        </pc:graphicFrameChg>
        <pc:graphicFrameChg chg="add del mod modGraphic">
          <ac:chgData name="Sriharipriya Prasath" userId="S::24uam157shpriya@soi.kgkite.ac.in::a9961d3b-4849-448d-a70e-7c2cf4e32a66" providerId="AD" clId="Web-{B7548D9D-3EB5-C8DC-CA5F-F5E2E4DA4DE8}" dt="2025-10-05T11:00:20.018" v="296"/>
          <ac:graphicFrameMkLst>
            <pc:docMk/>
            <pc:sldMk cId="0" sldId="261"/>
            <ac:graphicFrameMk id="8" creationId="{1D024324-B96C-506F-D91B-EFD460A98C9E}"/>
          </ac:graphicFrameMkLst>
        </pc:graphicFrameChg>
        <pc:graphicFrameChg chg="add del mod modGraphic">
          <ac:chgData name="Sriharipriya Prasath" userId="S::24uam157shpriya@soi.kgkite.ac.in::a9961d3b-4849-448d-a70e-7c2cf4e32a66" providerId="AD" clId="Web-{B7548D9D-3EB5-C8DC-CA5F-F5E2E4DA4DE8}" dt="2025-10-05T11:00:46.362" v="303"/>
          <ac:graphicFrameMkLst>
            <pc:docMk/>
            <pc:sldMk cId="0" sldId="261"/>
            <ac:graphicFrameMk id="10" creationId="{4DF9CB44-3712-B683-1DAA-F50F44B24BC0}"/>
          </ac:graphicFrameMkLst>
        </pc:graphicFrameChg>
      </pc:sldChg>
      <pc:sldChg chg="modSp">
        <pc:chgData name="Sriharipriya Prasath" userId="S::24uam157shpriya@soi.kgkite.ac.in::a9961d3b-4849-448d-a70e-7c2cf4e32a66" providerId="AD" clId="Web-{B7548D9D-3EB5-C8DC-CA5F-F5E2E4DA4DE8}" dt="2025-10-05T11:05:17.745" v="357" actId="20577"/>
        <pc:sldMkLst>
          <pc:docMk/>
          <pc:sldMk cId="0" sldId="262"/>
        </pc:sldMkLst>
        <pc:spChg chg="mod">
          <ac:chgData name="Sriharipriya Prasath" userId="S::24uam157shpriya@soi.kgkite.ac.in::a9961d3b-4849-448d-a70e-7c2cf4e32a66" providerId="AD" clId="Web-{B7548D9D-3EB5-C8DC-CA5F-F5E2E4DA4DE8}" dt="2025-10-05T11:04:56.776" v="355" actId="20577"/>
          <ac:spMkLst>
            <pc:docMk/>
            <pc:sldMk cId="0" sldId="262"/>
            <ac:spMk id="2" creationId="{00000000-0000-0000-0000-000000000000}"/>
          </ac:spMkLst>
        </pc:spChg>
        <pc:spChg chg="mod">
          <ac:chgData name="Sriharipriya Prasath" userId="S::24uam157shpriya@soi.kgkite.ac.in::a9961d3b-4849-448d-a70e-7c2cf4e32a66" providerId="AD" clId="Web-{B7548D9D-3EB5-C8DC-CA5F-F5E2E4DA4DE8}" dt="2025-10-05T11:05:17.745" v="357" actId="20577"/>
          <ac:spMkLst>
            <pc:docMk/>
            <pc:sldMk cId="0" sldId="262"/>
            <ac:spMk id="3" creationId="{00000000-0000-0000-0000-000000000000}"/>
          </ac:spMkLst>
        </pc:spChg>
      </pc:sldChg>
      <pc:sldChg chg="modSp">
        <pc:chgData name="Sriharipriya Prasath" userId="S::24uam157shpriya@soi.kgkite.ac.in::a9961d3b-4849-448d-a70e-7c2cf4e32a66" providerId="AD" clId="Web-{B7548D9D-3EB5-C8DC-CA5F-F5E2E4DA4DE8}" dt="2025-10-05T11:06:51.716" v="370" actId="20577"/>
        <pc:sldMkLst>
          <pc:docMk/>
          <pc:sldMk cId="0" sldId="263"/>
        </pc:sldMkLst>
        <pc:spChg chg="mod">
          <ac:chgData name="Sriharipriya Prasath" userId="S::24uam157shpriya@soi.kgkite.ac.in::a9961d3b-4849-448d-a70e-7c2cf4e32a66" providerId="AD" clId="Web-{B7548D9D-3EB5-C8DC-CA5F-F5E2E4DA4DE8}" dt="2025-10-05T11:05:55.996" v="360" actId="20577"/>
          <ac:spMkLst>
            <pc:docMk/>
            <pc:sldMk cId="0" sldId="263"/>
            <ac:spMk id="2" creationId="{00000000-0000-0000-0000-000000000000}"/>
          </ac:spMkLst>
        </pc:spChg>
        <pc:spChg chg="mod">
          <ac:chgData name="Sriharipriya Prasath" userId="S::24uam157shpriya@soi.kgkite.ac.in::a9961d3b-4849-448d-a70e-7c2cf4e32a66" providerId="AD" clId="Web-{B7548D9D-3EB5-C8DC-CA5F-F5E2E4DA4DE8}" dt="2025-10-05T11:06:51.716" v="370" actId="20577"/>
          <ac:spMkLst>
            <pc:docMk/>
            <pc:sldMk cId="0" sldId="263"/>
            <ac:spMk id="3" creationId="{00000000-0000-0000-0000-000000000000}"/>
          </ac:spMkLst>
        </pc:spChg>
      </pc:sldChg>
      <pc:sldChg chg="modSp">
        <pc:chgData name="Sriharipriya Prasath" userId="S::24uam157shpriya@soi.kgkite.ac.in::a9961d3b-4849-448d-a70e-7c2cf4e32a66" providerId="AD" clId="Web-{B7548D9D-3EB5-C8DC-CA5F-F5E2E4DA4DE8}" dt="2025-10-05T11:07:56.420" v="387" actId="20577"/>
        <pc:sldMkLst>
          <pc:docMk/>
          <pc:sldMk cId="0" sldId="264"/>
        </pc:sldMkLst>
        <pc:spChg chg="mod">
          <ac:chgData name="Sriharipriya Prasath" userId="S::24uam157shpriya@soi.kgkite.ac.in::a9961d3b-4849-448d-a70e-7c2cf4e32a66" providerId="AD" clId="Web-{B7548D9D-3EB5-C8DC-CA5F-F5E2E4DA4DE8}" dt="2025-10-05T11:07:09.247" v="374" actId="20577"/>
          <ac:spMkLst>
            <pc:docMk/>
            <pc:sldMk cId="0" sldId="264"/>
            <ac:spMk id="2" creationId="{00000000-0000-0000-0000-000000000000}"/>
          </ac:spMkLst>
        </pc:spChg>
        <pc:spChg chg="mod">
          <ac:chgData name="Sriharipriya Prasath" userId="S::24uam157shpriya@soi.kgkite.ac.in::a9961d3b-4849-448d-a70e-7c2cf4e32a66" providerId="AD" clId="Web-{B7548D9D-3EB5-C8DC-CA5F-F5E2E4DA4DE8}" dt="2025-10-05T11:07:56.420" v="387" actId="20577"/>
          <ac:spMkLst>
            <pc:docMk/>
            <pc:sldMk cId="0" sldId="264"/>
            <ac:spMk id="3" creationId="{00000000-0000-0000-0000-000000000000}"/>
          </ac:spMkLst>
        </pc:spChg>
      </pc:sldChg>
      <pc:sldChg chg="addSp delSp modSp">
        <pc:chgData name="Sriharipriya Prasath" userId="S::24uam157shpriya@soi.kgkite.ac.in::a9961d3b-4849-448d-a70e-7c2cf4e32a66" providerId="AD" clId="Web-{B7548D9D-3EB5-C8DC-CA5F-F5E2E4DA4DE8}" dt="2025-10-05T11:13:36.785" v="451" actId="1076"/>
        <pc:sldMkLst>
          <pc:docMk/>
          <pc:sldMk cId="0" sldId="265"/>
        </pc:sldMkLst>
        <pc:spChg chg="del">
          <ac:chgData name="Sriharipriya Prasath" userId="S::24uam157shpriya@soi.kgkite.ac.in::a9961d3b-4849-448d-a70e-7c2cf4e32a66" providerId="AD" clId="Web-{B7548D9D-3EB5-C8DC-CA5F-F5E2E4DA4DE8}" dt="2025-10-05T11:13:18.269" v="445"/>
          <ac:spMkLst>
            <pc:docMk/>
            <pc:sldMk cId="0" sldId="265"/>
            <ac:spMk id="4" creationId="{00000000-0000-0000-0000-000000000000}"/>
          </ac:spMkLst>
        </pc:spChg>
        <pc:spChg chg="add mod">
          <ac:chgData name="Sriharipriya Prasath" userId="S::24uam157shpriya@soi.kgkite.ac.in::a9961d3b-4849-448d-a70e-7c2cf4e32a66" providerId="AD" clId="Web-{B7548D9D-3EB5-C8DC-CA5F-F5E2E4DA4DE8}" dt="2025-10-05T11:13:36.785" v="451" actId="1076"/>
          <ac:spMkLst>
            <pc:docMk/>
            <pc:sldMk cId="0" sldId="265"/>
            <ac:spMk id="5" creationId="{CC218996-DC16-6BA9-AC19-F6081DD71680}"/>
          </ac:spMkLst>
        </pc:spChg>
        <pc:graphicFrameChg chg="mod modGraphic">
          <ac:chgData name="Sriharipriya Prasath" userId="S::24uam157shpriya@soi.kgkite.ac.in::a9961d3b-4849-448d-a70e-7c2cf4e32a66" providerId="AD" clId="Web-{B7548D9D-3EB5-C8DC-CA5F-F5E2E4DA4DE8}" dt="2025-10-05T11:12:32.049" v="444"/>
          <ac:graphicFrameMkLst>
            <pc:docMk/>
            <pc:sldMk cId="0" sldId="265"/>
            <ac:graphicFrameMk id="3" creationId="{00000000-0000-0000-0000-000000000000}"/>
          </ac:graphicFrameMkLst>
        </pc:graphicFrameChg>
      </pc:sldChg>
      <pc:sldChg chg="modSp">
        <pc:chgData name="Sriharipriya Prasath" userId="S::24uam157shpriya@soi.kgkite.ac.in::a9961d3b-4849-448d-a70e-7c2cf4e32a66" providerId="AD" clId="Web-{B7548D9D-3EB5-C8DC-CA5F-F5E2E4DA4DE8}" dt="2025-10-05T11:14:25.539" v="456" actId="20577"/>
        <pc:sldMkLst>
          <pc:docMk/>
          <pc:sldMk cId="0" sldId="266"/>
        </pc:sldMkLst>
        <pc:spChg chg="mod">
          <ac:chgData name="Sriharipriya Prasath" userId="S::24uam157shpriya@soi.kgkite.ac.in::a9961d3b-4849-448d-a70e-7c2cf4e32a66" providerId="AD" clId="Web-{B7548D9D-3EB5-C8DC-CA5F-F5E2E4DA4DE8}" dt="2025-10-05T11:14:25.539" v="456" actId="20577"/>
          <ac:spMkLst>
            <pc:docMk/>
            <pc:sldMk cId="0" sldId="266"/>
            <ac:spMk id="3" creationId="{00000000-0000-0000-0000-000000000000}"/>
          </ac:spMkLst>
        </pc:spChg>
      </pc:sldChg>
      <pc:sldChg chg="delSp modSp">
        <pc:chgData name="Sriharipriya Prasath" userId="S::24uam157shpriya@soi.kgkite.ac.in::a9961d3b-4849-448d-a70e-7c2cf4e32a66" providerId="AD" clId="Web-{B7548D9D-3EB5-C8DC-CA5F-F5E2E4DA4DE8}" dt="2025-10-05T11:16:37.604" v="479"/>
        <pc:sldMkLst>
          <pc:docMk/>
          <pc:sldMk cId="0" sldId="267"/>
        </pc:sldMkLst>
        <pc:spChg chg="del mod">
          <ac:chgData name="Sriharipriya Prasath" userId="S::24uam157shpriya@soi.kgkite.ac.in::a9961d3b-4849-448d-a70e-7c2cf4e32a66" providerId="AD" clId="Web-{B7548D9D-3EB5-C8DC-CA5F-F5E2E4DA4DE8}" dt="2025-10-05T11:15:59.416" v="468"/>
          <ac:spMkLst>
            <pc:docMk/>
            <pc:sldMk cId="0" sldId="267"/>
            <ac:spMk id="4" creationId="{00000000-0000-0000-0000-000000000000}"/>
          </ac:spMkLst>
        </pc:spChg>
        <pc:graphicFrameChg chg="mod modGraphic">
          <ac:chgData name="Sriharipriya Prasath" userId="S::24uam157shpriya@soi.kgkite.ac.in::a9961d3b-4849-448d-a70e-7c2cf4e32a66" providerId="AD" clId="Web-{B7548D9D-3EB5-C8DC-CA5F-F5E2E4DA4DE8}" dt="2025-10-05T11:16:37.604" v="479"/>
          <ac:graphicFrameMkLst>
            <pc:docMk/>
            <pc:sldMk cId="0" sldId="267"/>
            <ac:graphicFrameMk id="3" creationId="{00000000-0000-0000-0000-000000000000}"/>
          </ac:graphicFrameMkLst>
        </pc:graphicFrameChg>
      </pc:sldChg>
      <pc:sldChg chg="addSp delSp modSp">
        <pc:chgData name="Sriharipriya Prasath" userId="S::24uam157shpriya@soi.kgkite.ac.in::a9961d3b-4849-448d-a70e-7c2cf4e32a66" providerId="AD" clId="Web-{B7548D9D-3EB5-C8DC-CA5F-F5E2E4DA4DE8}" dt="2025-10-05T11:25:55.907" v="619"/>
        <pc:sldMkLst>
          <pc:docMk/>
          <pc:sldMk cId="0" sldId="268"/>
        </pc:sldMkLst>
        <pc:spChg chg="del mod">
          <ac:chgData name="Sriharipriya Prasath" userId="S::24uam157shpriya@soi.kgkite.ac.in::a9961d3b-4849-448d-a70e-7c2cf4e32a66" providerId="AD" clId="Web-{B7548D9D-3EB5-C8DC-CA5F-F5E2E4DA4DE8}" dt="2025-10-05T11:19:50.356" v="499"/>
          <ac:spMkLst>
            <pc:docMk/>
            <pc:sldMk cId="0" sldId="268"/>
            <ac:spMk id="4" creationId="{00000000-0000-0000-0000-000000000000}"/>
          </ac:spMkLst>
        </pc:spChg>
        <pc:graphicFrameChg chg="mod modGraphic">
          <ac:chgData name="Sriharipriya Prasath" userId="S::24uam157shpriya@soi.kgkite.ac.in::a9961d3b-4849-448d-a70e-7c2cf4e32a66" providerId="AD" clId="Web-{B7548D9D-3EB5-C8DC-CA5F-F5E2E4DA4DE8}" dt="2025-10-05T11:25:55.907" v="619"/>
          <ac:graphicFrameMkLst>
            <pc:docMk/>
            <pc:sldMk cId="0" sldId="268"/>
            <ac:graphicFrameMk id="3" creationId="{00000000-0000-0000-0000-000000000000}"/>
          </ac:graphicFrameMkLst>
        </pc:graphicFrameChg>
        <pc:graphicFrameChg chg="add del mod">
          <ac:chgData name="Sriharipriya Prasath" userId="S::24uam157shpriya@soi.kgkite.ac.in::a9961d3b-4849-448d-a70e-7c2cf4e32a66" providerId="AD" clId="Web-{B7548D9D-3EB5-C8DC-CA5F-F5E2E4DA4DE8}" dt="2025-10-05T11:24:20.985" v="551"/>
          <ac:graphicFrameMkLst>
            <pc:docMk/>
            <pc:sldMk cId="0" sldId="268"/>
            <ac:graphicFrameMk id="6" creationId="{3EF18893-065B-307F-84DE-4AA70D92C33E}"/>
          </ac:graphicFrameMkLst>
        </pc:graphicFrameChg>
        <pc:graphicFrameChg chg="add del mod modGraphic">
          <ac:chgData name="Sriharipriya Prasath" userId="S::24uam157shpriya@soi.kgkite.ac.in::a9961d3b-4849-448d-a70e-7c2cf4e32a66" providerId="AD" clId="Web-{B7548D9D-3EB5-C8DC-CA5F-F5E2E4DA4DE8}" dt="2025-10-05T11:24:51.751" v="561"/>
          <ac:graphicFrameMkLst>
            <pc:docMk/>
            <pc:sldMk cId="0" sldId="268"/>
            <ac:graphicFrameMk id="8" creationId="{2CDCF5A2-2A5B-61FE-EA1A-A69EF00A9CC6}"/>
          </ac:graphicFrameMkLst>
        </pc:graphicFrameChg>
        <pc:graphicFrameChg chg="add del mod">
          <ac:chgData name="Sriharipriya Prasath" userId="S::24uam157shpriya@soi.kgkite.ac.in::a9961d3b-4849-448d-a70e-7c2cf4e32a66" providerId="AD" clId="Web-{B7548D9D-3EB5-C8DC-CA5F-F5E2E4DA4DE8}" dt="2025-10-05T11:24:59.860" v="563"/>
          <ac:graphicFrameMkLst>
            <pc:docMk/>
            <pc:sldMk cId="0" sldId="268"/>
            <ac:graphicFrameMk id="10" creationId="{5B8E1023-D0AE-CE68-D27C-67A047348036}"/>
          </ac:graphicFrameMkLst>
        </pc:graphicFrameChg>
      </pc:sldChg>
      <pc:sldChg chg="modSp">
        <pc:chgData name="Sriharipriya Prasath" userId="S::24uam157shpriya@soi.kgkite.ac.in::a9961d3b-4849-448d-a70e-7c2cf4e32a66" providerId="AD" clId="Web-{B7548D9D-3EB5-C8DC-CA5F-F5E2E4DA4DE8}" dt="2025-10-05T11:40:27.311" v="635" actId="20577"/>
        <pc:sldMkLst>
          <pc:docMk/>
          <pc:sldMk cId="0" sldId="269"/>
        </pc:sldMkLst>
        <pc:spChg chg="mod">
          <ac:chgData name="Sriharipriya Prasath" userId="S::24uam157shpriya@soi.kgkite.ac.in::a9961d3b-4849-448d-a70e-7c2cf4e32a66" providerId="AD" clId="Web-{B7548D9D-3EB5-C8DC-CA5F-F5E2E4DA4DE8}" dt="2025-10-05T11:40:27.311" v="635" actId="20577"/>
          <ac:spMkLst>
            <pc:docMk/>
            <pc:sldMk cId="0" sldId="26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pubsonline.informs.org/doi/abs/10.1287/orsc.2022.1651" TargetMode="External"/><Relationship Id="rId2" Type="http://schemas.openxmlformats.org/officeDocument/2006/relationships/hyperlink" Target="https://aclanthology.org/2022.nllp-1.13" TargetMode="External"/><Relationship Id="rId1" Type="http://schemas.openxmlformats.org/officeDocument/2006/relationships/slideLayout" Target="../slideLayouts/slideLayout2.xml"/><Relationship Id="rId4" Type="http://schemas.openxmlformats.org/officeDocument/2006/relationships/hyperlink" Target="https://pgportal.gov.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194" y="738881"/>
            <a:ext cx="4688333" cy="3566160"/>
          </a:xfrm>
        </p:spPr>
        <p:txBody>
          <a:bodyPr anchor="b">
            <a:normAutofit/>
          </a:bodyPr>
          <a:lstStyle/>
          <a:p>
            <a:pPr algn="l"/>
            <a:r>
              <a:rPr lang="en-IN" sz="4700" dirty="0" err="1">
                <a:latin typeface="Times New Roman" panose="02020603050405020304" pitchFamily="18" charset="0"/>
                <a:cs typeface="Times New Roman" panose="02020603050405020304" pitchFamily="18" charset="0"/>
              </a:rPr>
              <a:t>SoI</a:t>
            </a:r>
            <a:r>
              <a:rPr lang="en-IN" sz="4700" dirty="0">
                <a:latin typeface="Times New Roman" panose="02020603050405020304" pitchFamily="18" charset="0"/>
                <a:cs typeface="Times New Roman" panose="02020603050405020304" pitchFamily="18" charset="0"/>
              </a:rPr>
              <a:t> Ideation Stage Template</a:t>
            </a:r>
          </a:p>
        </p:txBody>
      </p:sp>
      <p:sp>
        <p:nvSpPr>
          <p:cNvPr id="3" name="Subtitle 2"/>
          <p:cNvSpPr>
            <a:spLocks noGrp="1"/>
          </p:cNvSpPr>
          <p:nvPr>
            <p:ph type="subTitle" idx="1"/>
          </p:nvPr>
        </p:nvSpPr>
        <p:spPr>
          <a:xfrm>
            <a:off x="3973320" y="4636008"/>
            <a:ext cx="4767557" cy="2079424"/>
          </a:xfrm>
        </p:spPr>
        <p:txBody>
          <a:bodyPr vert="horz" lIns="91440" tIns="45720" rIns="91440" bIns="45720" rtlCol="0" anchor="t">
            <a:noAutofit/>
          </a:bodyPr>
          <a:lstStyle/>
          <a:p>
            <a:pPr algn="l">
              <a:lnSpc>
                <a:spcPct val="90000"/>
              </a:lnSpc>
              <a:defRPr sz="1600"/>
            </a:pPr>
            <a:r>
              <a:rPr lang="en-IN" sz="1600" b="1" dirty="0">
                <a:solidFill>
                  <a:schemeClr val="tx1"/>
                </a:solidFill>
                <a:latin typeface="Times New Roman" panose="02020603050405020304" pitchFamily="18" charset="0"/>
                <a:cs typeface="Times New Roman" panose="02020603050405020304" pitchFamily="18" charset="0"/>
              </a:rPr>
              <a:t>Project	   </a:t>
            </a:r>
            <a:r>
              <a:rPr lang="en-IN" sz="1600" dirty="0">
                <a:latin typeface="Times New Roman" panose="02020603050405020304" pitchFamily="18" charset="0"/>
                <a:cs typeface="Times New Roman" panose="02020603050405020304" pitchFamily="18" charset="0"/>
              </a:rPr>
              <a:t>:  </a:t>
            </a:r>
            <a:r>
              <a:rPr lang="en-IN" sz="1600" dirty="0">
                <a:solidFill>
                  <a:schemeClr val="tx1"/>
                </a:solidFill>
                <a:latin typeface="Times New Roman" panose="02020603050405020304" pitchFamily="18" charset="0"/>
                <a:cs typeface="Times New Roman" panose="02020603050405020304" pitchFamily="18" charset="0"/>
              </a:rPr>
              <a:t>Petition Response Engine</a:t>
            </a:r>
            <a:br>
              <a:rPr lang="en-IN" sz="1600" dirty="0">
                <a:latin typeface="Times New Roman" panose="02020603050405020304" pitchFamily="18" charset="0"/>
                <a:cs typeface="Times New Roman" panose="02020603050405020304" pitchFamily="18" charset="0"/>
              </a:rPr>
            </a:br>
            <a:r>
              <a:rPr lang="en-IN" sz="1600" b="1" dirty="0">
                <a:solidFill>
                  <a:schemeClr val="tx1"/>
                </a:solidFill>
                <a:latin typeface="Times New Roman" panose="02020603050405020304" pitchFamily="18" charset="0"/>
                <a:cs typeface="Times New Roman" panose="02020603050405020304" pitchFamily="18" charset="0"/>
              </a:rPr>
              <a:t>Team	   </a:t>
            </a:r>
            <a:r>
              <a:rPr lang="en-IN" sz="1600" dirty="0">
                <a:latin typeface="Times New Roman" panose="02020603050405020304" pitchFamily="18" charset="0"/>
                <a:cs typeface="Times New Roman" panose="02020603050405020304" pitchFamily="18" charset="0"/>
              </a:rPr>
              <a:t>:  </a:t>
            </a:r>
            <a:r>
              <a:rPr lang="en-IN" sz="1600" dirty="0" err="1">
                <a:solidFill>
                  <a:schemeClr val="tx1"/>
                </a:solidFill>
                <a:latin typeface="Times New Roman" panose="02020603050405020304" pitchFamily="18" charset="0"/>
                <a:cs typeface="Times New Roman" panose="02020603050405020304" pitchFamily="18" charset="0"/>
              </a:rPr>
              <a:t>CodeSmiths</a:t>
            </a:r>
            <a:endParaRPr lang="en-IN" sz="1600" dirty="0">
              <a:solidFill>
                <a:schemeClr val="tx1"/>
              </a:solidFill>
              <a:latin typeface="Times New Roman" panose="02020603050405020304" pitchFamily="18" charset="0"/>
              <a:cs typeface="Times New Roman" panose="02020603050405020304" pitchFamily="18" charset="0"/>
            </a:endParaRPr>
          </a:p>
          <a:p>
            <a:pPr algn="l">
              <a:lnSpc>
                <a:spcPct val="90000"/>
              </a:lnSpc>
              <a:defRPr sz="1600"/>
            </a:pPr>
            <a:r>
              <a:rPr lang="en-IN" sz="1600" b="1" dirty="0">
                <a:solidFill>
                  <a:schemeClr val="tx1"/>
                </a:solidFill>
                <a:latin typeface="Times New Roman" panose="02020603050405020304" pitchFamily="18" charset="0"/>
                <a:cs typeface="Times New Roman" panose="02020603050405020304" pitchFamily="18" charset="0"/>
              </a:rPr>
              <a:t>Lead		   </a:t>
            </a:r>
            <a:r>
              <a:rPr lang="en-IN" sz="1600" dirty="0">
                <a:solidFill>
                  <a:schemeClr val="tx1"/>
                </a:solidFill>
                <a:latin typeface="Times New Roman" panose="02020603050405020304" pitchFamily="18" charset="0"/>
                <a:cs typeface="Times New Roman" panose="02020603050405020304" pitchFamily="18" charset="0"/>
              </a:rPr>
              <a:t>:  Sarwina M</a:t>
            </a:r>
          </a:p>
          <a:p>
            <a:pPr algn="l">
              <a:lnSpc>
                <a:spcPct val="90000"/>
              </a:lnSpc>
              <a:defRPr sz="1600"/>
            </a:pPr>
            <a:r>
              <a:rPr lang="en-IN" sz="1600" b="1" dirty="0">
                <a:solidFill>
                  <a:schemeClr val="tx1"/>
                </a:solidFill>
                <a:latin typeface="Times New Roman" panose="02020603050405020304" pitchFamily="18" charset="0"/>
                <a:cs typeface="Times New Roman" panose="02020603050405020304" pitchFamily="18" charset="0"/>
              </a:rPr>
              <a:t>Members	   </a:t>
            </a:r>
            <a:r>
              <a:rPr lang="en-IN" sz="1600" dirty="0">
                <a:solidFill>
                  <a:schemeClr val="tx1"/>
                </a:solidFill>
                <a:latin typeface="Times New Roman" panose="02020603050405020304" pitchFamily="18" charset="0"/>
                <a:cs typeface="Times New Roman" panose="02020603050405020304" pitchFamily="18" charset="0"/>
              </a:rPr>
              <a:t>:  Sanjana S , </a:t>
            </a:r>
            <a:r>
              <a:rPr lang="en-IN" sz="1600" dirty="0" err="1">
                <a:solidFill>
                  <a:schemeClr val="tx1"/>
                </a:solidFill>
                <a:latin typeface="Times New Roman" panose="02020603050405020304" pitchFamily="18" charset="0"/>
                <a:cs typeface="Times New Roman" panose="02020603050405020304" pitchFamily="18" charset="0"/>
              </a:rPr>
              <a:t>Srinivetha</a:t>
            </a:r>
            <a:r>
              <a:rPr lang="en-IN" sz="1600" dirty="0">
                <a:solidFill>
                  <a:schemeClr val="tx1"/>
                </a:solidFill>
                <a:latin typeface="Times New Roman" panose="02020603050405020304" pitchFamily="18" charset="0"/>
                <a:cs typeface="Times New Roman" panose="02020603050405020304" pitchFamily="18" charset="0"/>
              </a:rPr>
              <a:t> S G ,</a:t>
            </a:r>
          </a:p>
          <a:p>
            <a:pPr algn="l">
              <a:lnSpc>
                <a:spcPct val="90000"/>
              </a:lnSpc>
              <a:defRPr sz="1600"/>
            </a:pPr>
            <a:r>
              <a:rPr lang="en-IN" sz="1600" dirty="0">
                <a:solidFill>
                  <a:schemeClr val="tx1"/>
                </a:solidFill>
                <a:latin typeface="Times New Roman" panose="02020603050405020304" pitchFamily="18" charset="0"/>
                <a:cs typeface="Times New Roman" panose="02020603050405020304" pitchFamily="18" charset="0"/>
              </a:rPr>
              <a:t>		      Tharchana S , Kamalesh M</a:t>
            </a:r>
            <a:endParaRPr lang="en-IN" sz="1600" dirty="0">
              <a:latin typeface="Times New Roman" panose="02020603050405020304" pitchFamily="18" charset="0"/>
              <a:cs typeface="Times New Roman" panose="02020603050405020304" pitchFamily="18" charset="0"/>
            </a:endParaRPr>
          </a:p>
          <a:p>
            <a:pPr algn="l">
              <a:lnSpc>
                <a:spcPct val="90000"/>
              </a:lnSpc>
              <a:defRPr sz="1600"/>
            </a:pPr>
            <a:r>
              <a:rPr lang="en-IN" sz="1600" b="1" dirty="0">
                <a:solidFill>
                  <a:schemeClr val="tx1"/>
                </a:solidFill>
                <a:latin typeface="Times New Roman" panose="02020603050405020304" pitchFamily="18" charset="0"/>
                <a:cs typeface="Times New Roman" panose="02020603050405020304" pitchFamily="18" charset="0"/>
              </a:rPr>
              <a:t>Mentor	   </a:t>
            </a:r>
            <a:r>
              <a:rPr lang="en-IN" sz="1600" dirty="0">
                <a:solidFill>
                  <a:schemeClr val="tx1"/>
                </a:solidFill>
                <a:latin typeface="Times New Roman" panose="02020603050405020304" pitchFamily="18" charset="0"/>
                <a:cs typeface="Times New Roman" panose="02020603050405020304" pitchFamily="18" charset="0"/>
              </a:rPr>
              <a:t>:  Mathew Valan D L</a:t>
            </a:r>
          </a:p>
          <a:p>
            <a:pPr algn="l">
              <a:lnSpc>
                <a:spcPct val="90000"/>
              </a:lnSpc>
              <a:defRPr sz="1600"/>
            </a:pPr>
            <a:r>
              <a:rPr lang="en-IN" sz="1600" b="1" dirty="0" err="1">
                <a:solidFill>
                  <a:schemeClr val="tx1"/>
                </a:solidFill>
                <a:latin typeface="Times New Roman" panose="02020603050405020304" pitchFamily="18" charset="0"/>
                <a:cs typeface="Times New Roman" panose="02020603050405020304" pitchFamily="18" charset="0"/>
              </a:rPr>
              <a:t>SoI</a:t>
            </a:r>
            <a:r>
              <a:rPr lang="en-IN" sz="1600" b="1" dirty="0">
                <a:solidFill>
                  <a:schemeClr val="tx1"/>
                </a:solidFill>
                <a:latin typeface="Times New Roman" panose="02020603050405020304" pitchFamily="18" charset="0"/>
                <a:cs typeface="Times New Roman" panose="02020603050405020304" pitchFamily="18" charset="0"/>
              </a:rPr>
              <a:t> Vertical </a:t>
            </a:r>
            <a:r>
              <a:rPr lang="en-IN" sz="1600" dirty="0">
                <a:solidFill>
                  <a:schemeClr val="tx1"/>
                </a:solidFill>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a:t>
            </a:r>
            <a:r>
              <a:rPr lang="en-IN" sz="1600" dirty="0">
                <a:solidFill>
                  <a:schemeClr val="tx1"/>
                </a:solidFill>
                <a:latin typeface="Times New Roman" panose="02020603050405020304" pitchFamily="18" charset="0"/>
                <a:cs typeface="Times New Roman" panose="02020603050405020304" pitchFamily="18" charset="0"/>
              </a:rPr>
              <a:t>AD</a:t>
            </a:r>
          </a:p>
          <a:p>
            <a:pPr algn="l">
              <a:lnSpc>
                <a:spcPct val="90000"/>
              </a:lnSpc>
              <a:defRPr sz="1600"/>
            </a:pPr>
            <a:r>
              <a:rPr lang="en-IN" sz="1600" b="1" dirty="0">
                <a:solidFill>
                  <a:schemeClr val="tx1"/>
                </a:solidFill>
                <a:latin typeface="Times New Roman" panose="02020603050405020304" pitchFamily="18" charset="0"/>
                <a:cs typeface="Times New Roman" panose="02020603050405020304" pitchFamily="18" charset="0"/>
              </a:rPr>
              <a:t>Cohort	   </a:t>
            </a:r>
            <a:r>
              <a:rPr lang="en-IN" sz="1600" dirty="0">
                <a:solidFill>
                  <a:schemeClr val="tx1"/>
                </a:solidFill>
                <a:latin typeface="Times New Roman" panose="02020603050405020304" pitchFamily="18" charset="0"/>
                <a:cs typeface="Times New Roman" panose="02020603050405020304" pitchFamily="18" charset="0"/>
              </a:rPr>
              <a:t>:  2024-28</a:t>
            </a:r>
          </a:p>
        </p:txBody>
      </p:sp>
      <p:pic>
        <p:nvPicPr>
          <p:cNvPr id="5" name="Picture 4" descr="Light bulbs on blackboard background">
            <a:extLst>
              <a:ext uri="{FF2B5EF4-FFF2-40B4-BE49-F238E27FC236}">
                <a16:creationId xmlns:a16="http://schemas.microsoft.com/office/drawing/2014/main" id="{0C4ED605-1D3A-5ABB-B356-C44F2259E061}"/>
              </a:ext>
            </a:extLst>
          </p:cNvPr>
          <p:cNvPicPr>
            <a:picLocks noChangeAspect="1"/>
          </p:cNvPicPr>
          <p:nvPr/>
        </p:nvPicPr>
        <p:blipFill>
          <a:blip r:embed="rId2"/>
          <a:srcRect l="31860" r="36307"/>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1490" y="118662"/>
            <a:ext cx="6663813" cy="756181"/>
          </a:xfrm>
        </p:spPr>
        <p:txBody>
          <a:bodyPr/>
          <a:lstStyle/>
          <a:p>
            <a:r>
              <a:rPr sz="3600" b="1" dirty="0">
                <a:latin typeface="Times New Roman" panose="02020603050405020304" pitchFamily="18" charset="0"/>
                <a:cs typeface="Times New Roman" panose="02020603050405020304" pitchFamily="18" charset="0"/>
              </a:rPr>
              <a:t>Problem &amp; End‑User Recap</a:t>
            </a:r>
          </a:p>
        </p:txBody>
      </p:sp>
      <p:sp>
        <p:nvSpPr>
          <p:cNvPr id="3" name="Content Placeholder 2"/>
          <p:cNvSpPr>
            <a:spLocks noGrp="1"/>
          </p:cNvSpPr>
          <p:nvPr>
            <p:ph idx="1"/>
          </p:nvPr>
        </p:nvSpPr>
        <p:spPr>
          <a:xfrm>
            <a:off x="268450" y="874843"/>
            <a:ext cx="8551085" cy="5594783"/>
          </a:xfrm>
        </p:spPr>
        <p:txBody>
          <a:bodyPr vert="horz" lIns="91440" tIns="45720" rIns="91440" bIns="45720" rtlCol="0" anchor="t">
            <a:normAutofit/>
          </a:bodyPr>
          <a:lstStyle/>
          <a:p>
            <a:pPr>
              <a:buNone/>
              <a:defRPr sz="1800"/>
            </a:pPr>
            <a:r>
              <a:rPr lang="en-US" sz="1900" b="1" dirty="0">
                <a:latin typeface="Times New Roman" panose="02020603050405020304" pitchFamily="18" charset="0"/>
                <a:ea typeface="+mn-lt"/>
                <a:cs typeface="Times New Roman" panose="02020603050405020304" pitchFamily="18" charset="0"/>
              </a:rPr>
              <a:t>Problem Statement:</a:t>
            </a:r>
            <a:br>
              <a:rPr lang="en-US" b="1" dirty="0">
                <a:latin typeface="Times New Roman" panose="02020603050405020304" pitchFamily="18" charset="0"/>
                <a:ea typeface="+mn-lt"/>
                <a:cs typeface="Times New Roman" panose="02020603050405020304" pitchFamily="18" charset="0"/>
              </a:rPr>
            </a:br>
            <a:r>
              <a:rPr lang="en-US" b="1" dirty="0">
                <a:latin typeface="Times New Roman" panose="02020603050405020304" pitchFamily="18" charset="0"/>
                <a:ea typeface="+mn-lt"/>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Public grievance systems are overwhelmed by high volumes of petitions, leading 		to slow classification, delayed responses, and a lack of accountability in 				resolution tracking. Crucial, urgent cases are often buried, resulting in citizen 			frustration and a perceived failure of governance.</a:t>
            </a:r>
          </a:p>
          <a:p>
            <a:pPr>
              <a:buNone/>
              <a:defRPr sz="1800"/>
            </a:pPr>
            <a:endParaRPr lang="en-US" dirty="0">
              <a:latin typeface="Times New Roman" panose="02020603050405020304" pitchFamily="18" charset="0"/>
              <a:cs typeface="Times New Roman" panose="02020603050405020304" pitchFamily="18" charset="0"/>
            </a:endParaRPr>
          </a:p>
          <a:p>
            <a:pPr>
              <a:buNone/>
              <a:defRPr sz="1800"/>
            </a:pPr>
            <a:r>
              <a:rPr lang="en-US" sz="1900" b="1" dirty="0">
                <a:latin typeface="Times New Roman" panose="02020603050405020304" pitchFamily="18" charset="0"/>
                <a:ea typeface="+mn-lt"/>
                <a:cs typeface="Times New Roman" panose="02020603050405020304" pitchFamily="18" charset="0"/>
              </a:rPr>
              <a:t>Target End-User:</a:t>
            </a:r>
            <a:endParaRPr lang="en-US" sz="1900" dirty="0">
              <a:latin typeface="Times New Roman" panose="02020603050405020304" pitchFamily="18" charset="0"/>
              <a:cs typeface="Times New Roman" panose="02020603050405020304" pitchFamily="18" charset="0"/>
            </a:endParaRPr>
          </a:p>
          <a:p>
            <a:pPr marL="685800"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Administration/Municipal Authorities (Control Room Staff, Department Heads)</a:t>
            </a:r>
          </a:p>
          <a:p>
            <a:pPr marL="685800"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Grievance Redressal Cells and Lokpal Offices</a:t>
            </a:r>
          </a:p>
          <a:p>
            <a:pPr marL="685800"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Policy Makers and Senior Government Officials</a:t>
            </a:r>
          </a:p>
          <a:p>
            <a:pPr marL="685800"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Citizens (as the petitioners)</a:t>
            </a:r>
          </a:p>
          <a:p>
            <a:pPr marL="400050" lvl="1" indent="0" defTabSz="914400" eaLnBrk="0" fontAlgn="base" hangingPunct="0">
              <a:spcBef>
                <a:spcPct val="0"/>
              </a:spcBef>
              <a:spcAft>
                <a:spcPct val="0"/>
              </a:spcAft>
              <a:buNone/>
            </a:pPr>
            <a:endParaRPr lang="en-US" sz="1800" b="1" dirty="0">
              <a:latin typeface="Times New Roman" panose="02020603050405020304" pitchFamily="18" charset="0"/>
              <a:ea typeface="+mn-lt"/>
              <a:cs typeface="Times New Roman" panose="02020603050405020304" pitchFamily="18" charset="0"/>
            </a:endParaRPr>
          </a:p>
          <a:p>
            <a:pPr marL="0" indent="0">
              <a:buNone/>
              <a:defRPr sz="1800"/>
            </a:pPr>
            <a:r>
              <a:rPr lang="en-US" sz="1900" b="1" dirty="0">
                <a:latin typeface="Times New Roman" panose="02020603050405020304" pitchFamily="18" charset="0"/>
                <a:ea typeface="+mn-lt"/>
                <a:cs typeface="Times New Roman" panose="02020603050405020304" pitchFamily="18" charset="0"/>
              </a:rPr>
              <a:t>Evidence / Insight:</a:t>
            </a:r>
            <a:endParaRPr lang="en-US" sz="1900" dirty="0">
              <a:latin typeface="Times New Roman" panose="02020603050405020304" pitchFamily="18" charset="0"/>
              <a:cs typeface="Times New Roman" panose="02020603050405020304" pitchFamily="18" charset="0"/>
            </a:endParaRP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A typical administrative office receives hundreds of grievances daily, making </a:t>
            </a:r>
            <a:r>
              <a:rPr lang="en-US" altLang="en-US" sz="1800" b="1" dirty="0">
                <a:latin typeface="Times New Roman" panose="02020603050405020304" pitchFamily="18" charset="0"/>
                <a:cs typeface="Times New Roman" panose="02020603050405020304" pitchFamily="18" charset="0"/>
              </a:rPr>
              <a:t>manual classification and prioritization inefficient</a:t>
            </a:r>
            <a:r>
              <a:rPr lang="en-US" altLang="en-US" sz="1800" dirty="0">
                <a:latin typeface="Times New Roman" panose="02020603050405020304" pitchFamily="18" charset="0"/>
                <a:cs typeface="Times New Roman" panose="02020603050405020304" pitchFamily="18" charset="0"/>
              </a:rPr>
              <a:t> and prone to human error.</a:t>
            </a:r>
          </a:p>
          <a:p>
            <a:pPr lvl="1" defTabSz="914400" eaLnBrk="0" fontAlgn="base" hangingPunct="0">
              <a:spcBef>
                <a:spcPct val="0"/>
              </a:spcBef>
              <a:spcAft>
                <a:spcPct val="0"/>
              </a:spcAft>
              <a:buFont typeface="Times New Roman" panose="02020603050405020304" pitchFamily="18" charset="0"/>
              <a:buChar char="ᵜ"/>
            </a:pPr>
            <a:r>
              <a:rPr lang="en-US" altLang="en-US" sz="1800" b="1" dirty="0">
                <a:latin typeface="Times New Roman" panose="02020603050405020304" pitchFamily="18" charset="0"/>
                <a:cs typeface="Times New Roman" panose="02020603050405020304" pitchFamily="18" charset="0"/>
              </a:rPr>
              <a:t>Lack of transparency</a:t>
            </a:r>
            <a:r>
              <a:rPr lang="en-US" altLang="en-US" sz="1800" dirty="0">
                <a:latin typeface="Times New Roman" panose="02020603050405020304" pitchFamily="18" charset="0"/>
                <a:cs typeface="Times New Roman" panose="02020603050405020304" pitchFamily="18" charset="0"/>
              </a:rPr>
              <a:t> on grievance status is a major driver of repetitive petitions and follow-ups.</a:t>
            </a: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Repetitive or previously addressed petitions consume up to </a:t>
            </a:r>
            <a:r>
              <a:rPr lang="en-US" altLang="en-US" sz="1800" b="1" dirty="0">
                <a:latin typeface="Times New Roman" panose="02020603050405020304" pitchFamily="18" charset="0"/>
                <a:cs typeface="Times New Roman" panose="02020603050405020304" pitchFamily="18" charset="0"/>
              </a:rPr>
              <a:t>20-30% of staff time</a:t>
            </a:r>
            <a:r>
              <a:rPr lang="en-US" altLang="en-US" sz="1800" dirty="0">
                <a:latin typeface="Times New Roman" panose="02020603050405020304" pitchFamily="18" charset="0"/>
                <a:cs typeface="Times New Roman" panose="02020603050405020304" pitchFamily="18" charset="0"/>
              </a:rPr>
              <a:t>, diverting resources from unique, critical issues.</a:t>
            </a:r>
          </a:p>
          <a:p>
            <a:pPr>
              <a:defRPr sz="1800"/>
            </a:pPr>
            <a:endParaRPr lang="en-US" dirty="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5141"/>
            <a:ext cx="8155858" cy="669259"/>
          </a:xfrm>
        </p:spPr>
        <p:txBody>
          <a:bodyPr/>
          <a:lstStyle/>
          <a:p>
            <a:r>
              <a:rPr sz="3600" b="1" dirty="0">
                <a:latin typeface="Times New Roman" panose="02020603050405020304" pitchFamily="18" charset="0"/>
                <a:cs typeface="Times New Roman" panose="02020603050405020304" pitchFamily="18" charset="0"/>
              </a:rPr>
              <a:t>User </a:t>
            </a:r>
            <a:r>
              <a:rPr lang="en-US" sz="3600" b="1" dirty="0">
                <a:latin typeface="Times New Roman" panose="02020603050405020304" pitchFamily="18" charset="0"/>
                <a:cs typeface="Times New Roman" panose="02020603050405020304" pitchFamily="18" charset="0"/>
              </a:rPr>
              <a:t>Personal</a:t>
            </a:r>
            <a:endParaRPr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90600"/>
            <a:ext cx="8372168" cy="5193890"/>
          </a:xfrm>
        </p:spPr>
        <p:txBody>
          <a:bodyPr vert="horz" lIns="91440" tIns="45720" rIns="91440" bIns="45720" rtlCol="0" anchor="t">
            <a:normAutofit lnSpcReduction="10000"/>
          </a:bodyPr>
          <a:lstStyle/>
          <a:p>
            <a:pPr marL="0" indent="0">
              <a:buNone/>
              <a:defRPr sz="1800"/>
            </a:pPr>
            <a:r>
              <a:rPr lang="en-US" sz="2000" b="1" dirty="0">
                <a:latin typeface="Times New Roman" panose="02020603050405020304" pitchFamily="18" charset="0"/>
                <a:cs typeface="Times New Roman" panose="02020603050405020304" pitchFamily="18" charset="0"/>
              </a:rPr>
              <a:t>User Personal:</a:t>
            </a:r>
            <a:r>
              <a:rPr lang="en-US" sz="2000" dirty="0">
                <a:latin typeface="Times New Roman" panose="02020603050405020304" pitchFamily="18" charset="0"/>
                <a:cs typeface="Times New Roman" panose="02020603050405020304" pitchFamily="18" charset="0"/>
              </a:rPr>
              <a:t> The Grievance Officer</a:t>
            </a:r>
          </a:p>
          <a:p>
            <a:pPr marL="0" indent="0">
              <a:buNone/>
              <a:defRPr sz="1800"/>
            </a:pPr>
            <a:endParaRPr lang="en-US" sz="2000" dirty="0">
              <a:latin typeface="Times New Roman" panose="02020603050405020304" pitchFamily="18" charset="0"/>
              <a:cs typeface="Times New Roman" panose="02020603050405020304" pitchFamily="18" charset="0"/>
            </a:endParaRPr>
          </a:p>
          <a:p>
            <a:pPr marL="0" indent="0">
              <a:buNone/>
              <a:defRPr sz="1800"/>
            </a:pPr>
            <a:r>
              <a:rPr lang="en-US" sz="1900" b="1" dirty="0">
                <a:latin typeface="Times New Roman" panose="02020603050405020304" pitchFamily="18" charset="0"/>
                <a:ea typeface="+mn-lt"/>
                <a:cs typeface="Times New Roman" panose="02020603050405020304" pitchFamily="18" charset="0"/>
              </a:rPr>
              <a:t>Goals / Needs:</a:t>
            </a:r>
          </a:p>
          <a:p>
            <a:pPr lvl="1">
              <a:buFont typeface="Arial" panose="020B0604020202020204" pitchFamily="34" charset="0"/>
              <a:buChar char="ᵜ"/>
              <a:defRPr sz="1800"/>
            </a:pPr>
            <a:r>
              <a:rPr lang="en-US" altLang="en-US" sz="1800" dirty="0">
                <a:latin typeface="Times New Roman" panose="02020603050405020304" pitchFamily="18" charset="0"/>
                <a:cs typeface="Times New Roman" panose="02020603050405020304" pitchFamily="18" charset="0"/>
              </a:rPr>
              <a:t>Automatically </a:t>
            </a:r>
            <a:r>
              <a:rPr lang="en-US" altLang="en-US" sz="1800" b="1" dirty="0">
                <a:latin typeface="Times New Roman" panose="02020603050405020304" pitchFamily="18" charset="0"/>
                <a:cs typeface="Times New Roman" panose="02020603050405020304" pitchFamily="18" charset="0"/>
              </a:rPr>
              <a:t>categorize and route</a:t>
            </a:r>
            <a:r>
              <a:rPr lang="en-US" altLang="en-US" sz="1800" dirty="0">
                <a:latin typeface="Times New Roman" panose="02020603050405020304" pitchFamily="18" charset="0"/>
                <a:cs typeface="Times New Roman" panose="02020603050405020304" pitchFamily="18" charset="0"/>
              </a:rPr>
              <a:t> every petition to the right department.</a:t>
            </a:r>
          </a:p>
          <a:p>
            <a:pPr lvl="1" defTabSz="914400" eaLnBrk="0" fontAlgn="base" hangingPunct="0">
              <a:spcBef>
                <a:spcPct val="0"/>
              </a:spcBef>
              <a:spcAft>
                <a:spcPct val="0"/>
              </a:spcAft>
              <a:buFont typeface="Arial" panose="020B0604020202020204" pitchFamily="34" charset="0"/>
              <a:buChar char="ᵜ"/>
            </a:pPr>
            <a:r>
              <a:rPr lang="en-US" altLang="en-US" sz="1800" b="1" dirty="0">
                <a:latin typeface="Times New Roman" panose="02020603050405020304" pitchFamily="18" charset="0"/>
                <a:cs typeface="Times New Roman" panose="02020603050405020304" pitchFamily="18" charset="0"/>
              </a:rPr>
              <a:t>Flag urgent cases</a:t>
            </a:r>
            <a:r>
              <a:rPr lang="en-US" altLang="en-US" sz="1800" dirty="0">
                <a:latin typeface="Times New Roman" panose="02020603050405020304" pitchFamily="18" charset="0"/>
                <a:cs typeface="Times New Roman" panose="02020603050405020304" pitchFamily="18" charset="0"/>
              </a:rPr>
              <a:t> (e.g., health hazards, safety risks) immediately.</a:t>
            </a:r>
          </a:p>
          <a:p>
            <a:pPr lvl="1" defTabSz="914400" eaLnBrk="0" fontAlgn="base" hangingPunct="0">
              <a:spcBef>
                <a:spcPct val="0"/>
              </a:spcBef>
              <a:spcAft>
                <a:spcPct val="0"/>
              </a:spcAft>
              <a:buFont typeface="Arial" panose="020B0604020202020204" pitchFamily="34" charset="0"/>
              <a:buChar char="ᵜ"/>
            </a:pPr>
            <a:r>
              <a:rPr lang="en-US" altLang="en-US" sz="1800" dirty="0">
                <a:latin typeface="Times New Roman" panose="02020603050405020304" pitchFamily="18" charset="0"/>
                <a:cs typeface="Times New Roman" panose="02020603050405020304" pitchFamily="18" charset="0"/>
              </a:rPr>
              <a:t>Ensure officials </a:t>
            </a:r>
            <a:r>
              <a:rPr lang="en-US" altLang="en-US" sz="1800" b="1" dirty="0">
                <a:latin typeface="Times New Roman" panose="02020603050405020304" pitchFamily="18" charset="0"/>
                <a:cs typeface="Times New Roman" panose="02020603050405020304" pitchFamily="18" charset="0"/>
              </a:rPr>
              <a:t>act on assigned cases</a:t>
            </a:r>
            <a:r>
              <a:rPr lang="en-US" altLang="en-US" sz="1800" dirty="0">
                <a:latin typeface="Times New Roman" panose="02020603050405020304" pitchFamily="18" charset="0"/>
                <a:cs typeface="Times New Roman" panose="02020603050405020304" pitchFamily="18" charset="0"/>
              </a:rPr>
              <a:t> within a mandated timeframe.</a:t>
            </a:r>
          </a:p>
          <a:p>
            <a:pPr lvl="1" defTabSz="914400" eaLnBrk="0" fontAlgn="base" hangingPunct="0">
              <a:spcBef>
                <a:spcPct val="0"/>
              </a:spcBef>
              <a:spcAft>
                <a:spcPct val="0"/>
              </a:spcAft>
              <a:buFont typeface="Arial" panose="020B0604020202020204" pitchFamily="34" charset="0"/>
              <a:buChar char="ᵜ"/>
            </a:pPr>
            <a:r>
              <a:rPr lang="en-US" altLang="en-US" sz="1800" dirty="0">
                <a:latin typeface="Times New Roman" panose="02020603050405020304" pitchFamily="18" charset="0"/>
                <a:cs typeface="Times New Roman" panose="02020603050405020304" pitchFamily="18" charset="0"/>
              </a:rPr>
              <a:t>Reduce repetitive work from duplicate or closed petitions.</a:t>
            </a:r>
          </a:p>
          <a:p>
            <a:pPr lvl="1" defTabSz="914400" eaLnBrk="0" fontAlgn="base" hangingPunct="0">
              <a:spcBef>
                <a:spcPct val="0"/>
              </a:spcBef>
              <a:spcAft>
                <a:spcPct val="0"/>
              </a:spcAft>
              <a:buFont typeface="Times New Roman" panose="02020603050405020304" pitchFamily="18" charset="0"/>
              <a:buChar char="ᵜ"/>
            </a:pPr>
            <a:endParaRPr lang="en-US" sz="1800" dirty="0">
              <a:latin typeface="Times New Roman" panose="02020603050405020304" pitchFamily="18" charset="0"/>
              <a:ea typeface="+mn-lt"/>
              <a:cs typeface="Times New Roman" panose="02020603050405020304" pitchFamily="18" charset="0"/>
            </a:endParaRPr>
          </a:p>
          <a:p>
            <a:pPr marL="0" indent="0">
              <a:buNone/>
              <a:defRPr sz="1800"/>
            </a:pPr>
            <a:r>
              <a:rPr lang="en-US" sz="1900" b="1" dirty="0">
                <a:latin typeface="Times New Roman" panose="02020603050405020304" pitchFamily="18" charset="0"/>
                <a:ea typeface="+mn-lt"/>
                <a:cs typeface="Times New Roman" panose="02020603050405020304" pitchFamily="18" charset="0"/>
              </a:rPr>
              <a:t>Frustrations / Pain Points:</a:t>
            </a: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Sifting through thousands of petitions manually.</a:t>
            </a:r>
          </a:p>
          <a:p>
            <a:pPr lvl="1" defTabSz="914400" eaLnBrk="0" fontAlgn="base" hangingPunct="0">
              <a:spcBef>
                <a:spcPct val="0"/>
              </a:spcBef>
              <a:spcAft>
                <a:spcPct val="0"/>
              </a:spcAft>
              <a:buFont typeface="Times New Roman" panose="02020603050405020304" pitchFamily="18" charset="0"/>
              <a:buChar char="ᵜ"/>
            </a:pPr>
            <a:r>
              <a:rPr lang="en-US" altLang="en-US" sz="1800" b="1" dirty="0">
                <a:latin typeface="Times New Roman" panose="02020603050405020304" pitchFamily="18" charset="0"/>
                <a:cs typeface="Times New Roman" panose="02020603050405020304" pitchFamily="18" charset="0"/>
              </a:rPr>
              <a:t>Lack of a unified view</a:t>
            </a:r>
            <a:r>
              <a:rPr lang="en-US" altLang="en-US" sz="1800" dirty="0">
                <a:latin typeface="Times New Roman" panose="02020603050405020304" pitchFamily="18" charset="0"/>
                <a:cs typeface="Times New Roman" panose="02020603050405020304" pitchFamily="18" charset="0"/>
              </a:rPr>
              <a:t> of a petition's progress across multiple departments.</a:t>
            </a: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Difficulty identifying </a:t>
            </a:r>
            <a:r>
              <a:rPr lang="en-US" altLang="en-US" sz="1800" b="1" dirty="0">
                <a:latin typeface="Times New Roman" panose="02020603050405020304" pitchFamily="18" charset="0"/>
                <a:cs typeface="Times New Roman" panose="02020603050405020304" pitchFamily="18" charset="0"/>
              </a:rPr>
              <a:t>systemic or common grievances</a:t>
            </a:r>
            <a:r>
              <a:rPr lang="en-US" altLang="en-US" sz="1800" dirty="0">
                <a:latin typeface="Times New Roman" panose="02020603050405020304" pitchFamily="18" charset="0"/>
                <a:cs typeface="Times New Roman" panose="02020603050405020304" pitchFamily="18" charset="0"/>
              </a:rPr>
              <a:t> that need policy change.</a:t>
            </a: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Wasting time chasing officials for status updates and resolution proof.</a:t>
            </a:r>
          </a:p>
          <a:p>
            <a:pPr marL="400050" lvl="1" indent="0" defTabSz="914400" eaLnBrk="0" fontAlgn="base" hangingPunct="0">
              <a:spcBef>
                <a:spcPct val="0"/>
              </a:spcBef>
              <a:spcAft>
                <a:spcPct val="0"/>
              </a:spcAft>
              <a:buNone/>
            </a:pPr>
            <a:endParaRPr lang="en-US" sz="1800" dirty="0">
              <a:latin typeface="Times New Roman" panose="02020603050405020304" pitchFamily="18" charset="0"/>
              <a:ea typeface="+mn-lt"/>
              <a:cs typeface="Times New Roman" panose="02020603050405020304" pitchFamily="18" charset="0"/>
            </a:endParaRPr>
          </a:p>
          <a:p>
            <a:pPr marL="0" indent="0">
              <a:buNone/>
              <a:defRPr sz="1800"/>
            </a:pPr>
            <a:r>
              <a:rPr lang="en-US" sz="1900" b="1" dirty="0">
                <a:latin typeface="Times New Roman" panose="02020603050405020304" pitchFamily="18" charset="0"/>
                <a:ea typeface="+mn-lt"/>
                <a:cs typeface="Times New Roman" panose="02020603050405020304" pitchFamily="18" charset="0"/>
              </a:rPr>
              <a:t>Context:</a:t>
            </a: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Works under strict Service Level Agreements (SLAs) for resolution time.</a:t>
            </a: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Manages petitions received via multiple channels (web, mail, in-person).</a:t>
            </a:r>
          </a:p>
          <a:p>
            <a:pPr lvl="1" defTabSz="914400" eaLnBrk="0" fontAlgn="base" hangingPunct="0">
              <a:spcBef>
                <a:spcPct val="0"/>
              </a:spcBef>
              <a:spcAft>
                <a:spcPct val="0"/>
              </a:spcAft>
              <a:buFont typeface="Times New Roman" panose="02020603050405020304" pitchFamily="18" charset="0"/>
              <a:buChar char="ᵜ"/>
            </a:pPr>
            <a:r>
              <a:rPr lang="en-US" altLang="en-US" sz="1800" dirty="0">
                <a:latin typeface="Times New Roman" panose="02020603050405020304" pitchFamily="18" charset="0"/>
                <a:cs typeface="Times New Roman" panose="02020603050405020304" pitchFamily="18" charset="0"/>
              </a:rPr>
              <a:t>Requires clear, auditable trail of every action for accountability.</a:t>
            </a:r>
          </a:p>
          <a:p>
            <a:pPr>
              <a:defRPr sz="1800"/>
            </a:pPr>
            <a:endParaRPr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latin typeface="Times New Roman" panose="02020603050405020304" pitchFamily="18" charset="0"/>
                <a:cs typeface="Times New Roman" panose="02020603050405020304" pitchFamily="18" charset="0"/>
              </a:rPr>
              <a:t>Storyboard</a:t>
            </a:r>
            <a:r>
              <a:rPr lang="en-US" sz="3600" dirty="0"/>
              <a:t> </a:t>
            </a:r>
            <a:endParaRPr sz="3600" dirty="0"/>
          </a:p>
        </p:txBody>
      </p:sp>
      <p:graphicFrame>
        <p:nvGraphicFramePr>
          <p:cNvPr id="3" name="Table 2"/>
          <p:cNvGraphicFramePr>
            <a:graphicFrameLocks noGrp="1"/>
          </p:cNvGraphicFramePr>
          <p:nvPr>
            <p:extLst>
              <p:ext uri="{D42A27DB-BD31-4B8C-83A1-F6EECF244321}">
                <p14:modId xmlns:p14="http://schemas.microsoft.com/office/powerpoint/2010/main" val="2674283774"/>
              </p:ext>
            </p:extLst>
          </p:nvPr>
        </p:nvGraphicFramePr>
        <p:xfrm>
          <a:off x="378540" y="1308672"/>
          <a:ext cx="8450826" cy="5170786"/>
        </p:xfrm>
        <a:graphic>
          <a:graphicData uri="http://schemas.openxmlformats.org/drawingml/2006/table">
            <a:tbl>
              <a:tblPr firstRow="1" bandRow="1">
                <a:tableStyleId>{5C22544A-7EE6-4342-B048-85BDC9FD1C3A}</a:tableStyleId>
              </a:tblPr>
              <a:tblGrid>
                <a:gridCol w="2816942">
                  <a:extLst>
                    <a:ext uri="{9D8B030D-6E8A-4147-A177-3AD203B41FA5}">
                      <a16:colId xmlns:a16="http://schemas.microsoft.com/office/drawing/2014/main" val="20000"/>
                    </a:ext>
                  </a:extLst>
                </a:gridCol>
                <a:gridCol w="2816942">
                  <a:extLst>
                    <a:ext uri="{9D8B030D-6E8A-4147-A177-3AD203B41FA5}">
                      <a16:colId xmlns:a16="http://schemas.microsoft.com/office/drawing/2014/main" val="20001"/>
                    </a:ext>
                  </a:extLst>
                </a:gridCol>
                <a:gridCol w="2816942">
                  <a:extLst>
                    <a:ext uri="{9D8B030D-6E8A-4147-A177-3AD203B41FA5}">
                      <a16:colId xmlns:a16="http://schemas.microsoft.com/office/drawing/2014/main" val="20002"/>
                    </a:ext>
                  </a:extLst>
                </a:gridCol>
              </a:tblGrid>
              <a:tr h="2465864">
                <a:tc>
                  <a:txBody>
                    <a:bodyPr/>
                    <a:lstStyle/>
                    <a:p>
                      <a:r>
                        <a:rPr lang="en-IN" sz="1500" dirty="0">
                          <a:latin typeface="Times New Roman" panose="02020603050405020304" pitchFamily="18" charset="0"/>
                          <a:cs typeface="Times New Roman" panose="02020603050405020304" pitchFamily="18" charset="0"/>
                        </a:rPr>
                        <a:t>Panel 1: Problem in context </a:t>
                      </a:r>
                    </a:p>
                    <a:p>
                      <a:pPr lvl="0">
                        <a:buNone/>
                      </a:pPr>
                      <a:endParaRPr lang="en-IN" sz="1500" dirty="0">
                        <a:latin typeface="Times New Roman" panose="02020603050405020304" pitchFamily="18" charset="0"/>
                        <a:cs typeface="Times New Roman" panose="02020603050405020304" pitchFamily="18" charset="0"/>
                      </a:endParaRPr>
                    </a:p>
                    <a:p>
                      <a:pPr lvl="0">
                        <a:buNone/>
                      </a:pPr>
                      <a:endParaRPr lang="en-US" sz="1500" b="0" dirty="0">
                        <a:latin typeface="Times New Roman" panose="02020603050405020304" pitchFamily="18" charset="0"/>
                        <a:cs typeface="Times New Roman" panose="02020603050405020304" pitchFamily="18" charset="0"/>
                      </a:endParaRPr>
                    </a:p>
                    <a:p>
                      <a:pPr lvl="0">
                        <a:buNone/>
                      </a:pPr>
                      <a:r>
                        <a:rPr lang="en-US" sz="1500" b="0" dirty="0">
                          <a:latin typeface="Times New Roman" panose="02020603050405020304" pitchFamily="18" charset="0"/>
                          <a:cs typeface="Times New Roman" panose="02020603050405020304" pitchFamily="18" charset="0"/>
                        </a:rPr>
                        <a:t>A citizen submits a critical petition about a dangerous water leak near a school.</a:t>
                      </a:r>
                      <a:endParaRPr lang="en-IN" sz="1500" b="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500" dirty="0">
                          <a:latin typeface="Times New Roman" panose="02020603050405020304" pitchFamily="18" charset="0"/>
                          <a:cs typeface="Times New Roman" panose="02020603050405020304" pitchFamily="18" charset="0"/>
                        </a:rPr>
                        <a:t>Panel 2: User attempts current workaround…</a:t>
                      </a:r>
                    </a:p>
                    <a:p>
                      <a:pPr lvl="0">
                        <a:buNone/>
                      </a:pPr>
                      <a:endParaRPr lang="en-US" sz="1500" dirty="0">
                        <a:latin typeface="Times New Roman" panose="02020603050405020304" pitchFamily="18" charset="0"/>
                        <a:cs typeface="Times New Roman" panose="02020603050405020304" pitchFamily="18" charset="0"/>
                      </a:endParaRPr>
                    </a:p>
                    <a:p>
                      <a:pPr lvl="0">
                        <a:buNone/>
                      </a:pPr>
                      <a:r>
                        <a:rPr lang="en-US" sz="1500" b="0" dirty="0">
                          <a:latin typeface="Times New Roman" panose="02020603050405020304" pitchFamily="18" charset="0"/>
                          <a:cs typeface="Times New Roman" panose="02020603050405020304" pitchFamily="18" charset="0"/>
                        </a:rPr>
                        <a:t>The petition is logged in a manual queue. A clerk tries to read, categorize, and email it to the Water Department, but it gets delayed by a backlog of non-urgent road repair complaints. The leak worsens.</a:t>
                      </a:r>
                      <a:endParaRPr lang="en-IN" sz="1500" b="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500" dirty="0">
                          <a:latin typeface="Times New Roman" panose="02020603050405020304" pitchFamily="18" charset="0"/>
                          <a:cs typeface="Times New Roman" panose="02020603050405020304" pitchFamily="18" charset="0"/>
                        </a:rPr>
                        <a:t>Panel 3: Introduce solution idea…</a:t>
                      </a:r>
                    </a:p>
                    <a:p>
                      <a:pPr lvl="0">
                        <a:buNone/>
                      </a:pPr>
                      <a:endParaRPr lang="en-US" sz="1500" dirty="0">
                        <a:latin typeface="Times New Roman" panose="02020603050405020304" pitchFamily="18" charset="0"/>
                        <a:cs typeface="Times New Roman" panose="02020603050405020304" pitchFamily="18" charset="0"/>
                      </a:endParaRPr>
                    </a:p>
                    <a:p>
                      <a:pPr lvl="0">
                        <a:buNone/>
                      </a:pPr>
                      <a:r>
                        <a:rPr lang="en-US" sz="1500" b="0" dirty="0">
                          <a:latin typeface="Times New Roman" panose="02020603050405020304" pitchFamily="18" charset="0"/>
                          <a:cs typeface="Times New Roman" panose="02020603050405020304" pitchFamily="18" charset="0"/>
                        </a:rPr>
                        <a:t>The AI Petition Analyst receives the text. Its NLP engine instantly classifies it as 'Public Safety/Water Supply' and flags it as 'URGENT' due to keywords like "school" and "dangerous leak."</a:t>
                      </a:r>
                      <a:endParaRPr lang="en-IN" sz="1500" b="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0"/>
                  </a:ext>
                </a:extLst>
              </a:tr>
              <a:tr h="2704922">
                <a:tc>
                  <a:txBody>
                    <a:bodyPr/>
                    <a:lstStyle/>
                    <a:p>
                      <a:r>
                        <a:rPr lang="en-IN" sz="1500" b="1" dirty="0">
                          <a:latin typeface="Times New Roman" panose="02020603050405020304" pitchFamily="18" charset="0"/>
                          <a:cs typeface="Times New Roman" panose="02020603050405020304" pitchFamily="18" charset="0"/>
                        </a:rPr>
                        <a:t>Panel 4: User interacts with solution…</a:t>
                      </a:r>
                    </a:p>
                    <a:p>
                      <a:endParaRPr lang="en-IN" sz="1500" dirty="0">
                        <a:latin typeface="Times New Roman" panose="02020603050405020304" pitchFamily="18" charset="0"/>
                        <a:cs typeface="Times New Roman" panose="02020603050405020304" pitchFamily="18" charset="0"/>
                      </a:endParaRPr>
                    </a:p>
                    <a:p>
                      <a:pPr lvl="0">
                        <a:buNone/>
                      </a:pPr>
                      <a:r>
                        <a:rPr lang="en-US" sz="1500" dirty="0">
                          <a:latin typeface="Times New Roman" panose="02020603050405020304" pitchFamily="18" charset="0"/>
                          <a:cs typeface="Times New Roman" panose="02020603050405020304" pitchFamily="18" charset="0"/>
                        </a:rPr>
                        <a:t>The Grievance Officer gets an immediate desktop and mobile alert: "CRITICAL: New Water Safety Petition (P-401)." The system automatically routes it to the </a:t>
                      </a:r>
                      <a:r>
                        <a:rPr lang="en-US" sz="1500" i="1" dirty="0">
                          <a:latin typeface="Times New Roman" panose="02020603050405020304" pitchFamily="18" charset="0"/>
                          <a:cs typeface="Times New Roman" panose="02020603050405020304" pitchFamily="18" charset="0"/>
                        </a:rPr>
                        <a:t>right</a:t>
                      </a:r>
                      <a:r>
                        <a:rPr lang="en-US" sz="1500" dirty="0">
                          <a:latin typeface="Times New Roman" panose="02020603050405020304" pitchFamily="18" charset="0"/>
                          <a:cs typeface="Times New Roman" panose="02020603050405020304" pitchFamily="18" charset="0"/>
                        </a:rPr>
                        <a:t> engineer and sends the officer a 24-hour resolution reminder</a:t>
                      </a:r>
                      <a:endParaRPr lang="en-IN"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500" b="1" dirty="0">
                          <a:latin typeface="Times New Roman" panose="02020603050405020304" pitchFamily="18" charset="0"/>
                          <a:cs typeface="Times New Roman" panose="02020603050405020304" pitchFamily="18" charset="0"/>
                        </a:rPr>
                        <a:t>Panel 5: Outcome / value delivered…</a:t>
                      </a:r>
                    </a:p>
                    <a:p>
                      <a:endParaRPr lang="en-IN" sz="1500" dirty="0">
                        <a:latin typeface="Times New Roman" panose="02020603050405020304" pitchFamily="18" charset="0"/>
                        <a:cs typeface="Times New Roman" panose="02020603050405020304" pitchFamily="18" charset="0"/>
                      </a:endParaRPr>
                    </a:p>
                    <a:p>
                      <a:pPr lvl="0">
                        <a:buNone/>
                      </a:pPr>
                      <a:r>
                        <a:rPr lang="en-US" sz="1500" dirty="0">
                          <a:latin typeface="Times New Roman" panose="02020603050405020304" pitchFamily="18" charset="0"/>
                          <a:cs typeface="Times New Roman" panose="02020603050405020304" pitchFamily="18" charset="0"/>
                        </a:rPr>
                        <a:t>The engineer is alerted instantly and fixes the leak within hours. The citizen receives an automatic SMS update on the fix. The community is safe, and the department's public trust improves.</a:t>
                      </a:r>
                      <a:endParaRPr lang="en-IN"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500" b="1" dirty="0">
                          <a:latin typeface="Times New Roman" panose="02020603050405020304" pitchFamily="18" charset="0"/>
                          <a:cs typeface="Times New Roman" panose="02020603050405020304" pitchFamily="18" charset="0"/>
                        </a:rPr>
                        <a:t>Panel 6: What remains to improve…</a:t>
                      </a:r>
                    </a:p>
                    <a:p>
                      <a:pPr lvl="0" algn="l">
                        <a:lnSpc>
                          <a:spcPct val="100000"/>
                        </a:lnSpc>
                        <a:spcBef>
                          <a:spcPts val="0"/>
                        </a:spcBef>
                        <a:spcAft>
                          <a:spcPts val="0"/>
                        </a:spcAft>
                        <a:buNone/>
                      </a:pPr>
                      <a:endParaRPr lang="en-US" sz="1500" dirty="0">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US" sz="1500" dirty="0">
                          <a:latin typeface="Times New Roman" panose="02020603050405020304" pitchFamily="18" charset="0"/>
                          <a:cs typeface="Times New Roman" panose="02020603050405020304" pitchFamily="18" charset="0"/>
                        </a:rPr>
                        <a:t>Integrate with on-field worker mobile apps for instant resolution closure and photo proof. Expand the AI to analyze historical data for fraud detection in petitions.</a:t>
                      </a:r>
                      <a:endParaRPr lang="en-IN" sz="15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95319"/>
            <a:ext cx="8342671" cy="631496"/>
          </a:xfrm>
        </p:spPr>
        <p:txBody>
          <a:bodyPr>
            <a:normAutofit fontScale="90000"/>
          </a:bodyPr>
          <a:lstStyle/>
          <a:p>
            <a:r>
              <a:rPr sz="3600" b="1" dirty="0">
                <a:latin typeface="Times New Roman" panose="02020603050405020304" pitchFamily="18" charset="0"/>
                <a:cs typeface="Times New Roman" panose="02020603050405020304" pitchFamily="18" charset="0"/>
              </a:rPr>
              <a:t>Value Proposition Canvas </a:t>
            </a:r>
            <a:endParaRPr lang="en-US" sz="3600" b="1" dirty="0">
              <a:latin typeface="Times New Roman" panose="02020603050405020304" pitchFamily="18" charset="0"/>
              <a:ea typeface="Calibri"/>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857312237"/>
              </p:ext>
            </p:extLst>
          </p:nvPr>
        </p:nvGraphicFramePr>
        <p:xfrm>
          <a:off x="265471" y="726815"/>
          <a:ext cx="8760540" cy="6035866"/>
        </p:xfrm>
        <a:graphic>
          <a:graphicData uri="http://schemas.openxmlformats.org/drawingml/2006/table">
            <a:tbl>
              <a:tblPr firstRow="1" bandRow="1">
                <a:tableStyleId>{5C22544A-7EE6-4342-B048-85BDC9FD1C3A}</a:tableStyleId>
              </a:tblPr>
              <a:tblGrid>
                <a:gridCol w="2920180">
                  <a:extLst>
                    <a:ext uri="{9D8B030D-6E8A-4147-A177-3AD203B41FA5}">
                      <a16:colId xmlns:a16="http://schemas.microsoft.com/office/drawing/2014/main" val="20000"/>
                    </a:ext>
                  </a:extLst>
                </a:gridCol>
                <a:gridCol w="2920180">
                  <a:extLst>
                    <a:ext uri="{9D8B030D-6E8A-4147-A177-3AD203B41FA5}">
                      <a16:colId xmlns:a16="http://schemas.microsoft.com/office/drawing/2014/main" val="20001"/>
                    </a:ext>
                  </a:extLst>
                </a:gridCol>
                <a:gridCol w="2920180">
                  <a:extLst>
                    <a:ext uri="{9D8B030D-6E8A-4147-A177-3AD203B41FA5}">
                      <a16:colId xmlns:a16="http://schemas.microsoft.com/office/drawing/2014/main" val="20002"/>
                    </a:ext>
                  </a:extLst>
                </a:gridCol>
              </a:tblGrid>
              <a:tr h="2021813">
                <a:tc>
                  <a:txBody>
                    <a:bodyPr/>
                    <a:lstStyle/>
                    <a:p>
                      <a:r>
                        <a:rPr lang="en-IN" sz="1400" b="1" dirty="0">
                          <a:latin typeface="Times New Roman" panose="02020603050405020304" pitchFamily="18" charset="0"/>
                          <a:cs typeface="Times New Roman" panose="02020603050405020304" pitchFamily="18" charset="0"/>
                        </a:rPr>
                        <a:t>Customer Jobs:</a:t>
                      </a:r>
                    </a:p>
                    <a:p>
                      <a:r>
                        <a:rPr lang="en-US" sz="1400" b="0" dirty="0">
                          <a:latin typeface="Times New Roman" panose="02020603050405020304" pitchFamily="18" charset="0"/>
                          <a:cs typeface="Times New Roman" panose="02020603050405020304" pitchFamily="18" charset="0"/>
                        </a:rPr>
                        <a:t>-     Efficiently process and classify  high-volume petitions.</a:t>
                      </a:r>
                    </a:p>
                    <a:p>
                      <a:pPr marL="285750" lvl="0" indent="-285750" algn="l">
                        <a:lnSpc>
                          <a:spcPct val="100000"/>
                        </a:lnSpc>
                        <a:spcBef>
                          <a:spcPts val="0"/>
                        </a:spcBef>
                        <a:spcAft>
                          <a:spcPts val="0"/>
                        </a:spcAft>
                        <a:buFontTx/>
                        <a:buChar char="-"/>
                      </a:pPr>
                      <a:r>
                        <a:rPr lang="en-US" sz="1400" b="0" dirty="0">
                          <a:latin typeface="Times New Roman" panose="02020603050405020304" pitchFamily="18" charset="0"/>
                          <a:cs typeface="Times New Roman" panose="02020603050405020304" pitchFamily="18" charset="0"/>
                        </a:rPr>
                        <a:t>Track resolution progress and enforce accountability.</a:t>
                      </a:r>
                    </a:p>
                    <a:p>
                      <a:pPr marL="285750" lvl="0" indent="-285750" algn="l">
                        <a:lnSpc>
                          <a:spcPct val="100000"/>
                        </a:lnSpc>
                        <a:spcBef>
                          <a:spcPts val="0"/>
                        </a:spcBef>
                        <a:spcAft>
                          <a:spcPts val="0"/>
                        </a:spcAft>
                        <a:buFontTx/>
                        <a:buChar char="-"/>
                      </a:pPr>
                      <a:r>
                        <a:rPr lang="en-US" sz="1400" b="0" dirty="0">
                          <a:latin typeface="Times New Roman" panose="02020603050405020304" pitchFamily="18" charset="0"/>
                          <a:cs typeface="Times New Roman" panose="02020603050405020304" pitchFamily="18" charset="0"/>
                        </a:rPr>
                        <a:t>Communicate status updates clearly to petitioners.</a:t>
                      </a:r>
                      <a:endParaRPr lang="en-IN" sz="1400" b="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400" b="1" dirty="0">
                          <a:latin typeface="Times New Roman" panose="02020603050405020304" pitchFamily="18" charset="0"/>
                          <a:cs typeface="Times New Roman" panose="02020603050405020304" pitchFamily="18" charset="0"/>
                        </a:rPr>
                        <a:t>Customer Pains: </a:t>
                      </a:r>
                    </a:p>
                    <a:p>
                      <a:r>
                        <a:rPr lang="en-IN" sz="1400" b="1"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rPr>
                        <a:t>Manual classification is slow and inaccurate.</a:t>
                      </a:r>
                    </a:p>
                    <a:p>
                      <a:pPr marL="285750" lvl="0" indent="-285750" algn="l">
                        <a:lnSpc>
                          <a:spcPct val="100000"/>
                        </a:lnSpc>
                        <a:spcBef>
                          <a:spcPts val="0"/>
                        </a:spcBef>
                        <a:spcAft>
                          <a:spcPts val="0"/>
                        </a:spcAft>
                        <a:buFontTx/>
                        <a:buChar char="-"/>
                      </a:pPr>
                      <a:r>
                        <a:rPr lang="en-US" sz="1400" b="0" dirty="0">
                          <a:latin typeface="Times New Roman" panose="02020603050405020304" pitchFamily="18" charset="0"/>
                          <a:cs typeface="Times New Roman" panose="02020603050405020304" pitchFamily="18" charset="0"/>
                        </a:rPr>
                        <a:t> Inability to enforce or track resolution deadlines (SLAs).</a:t>
                      </a:r>
                    </a:p>
                    <a:p>
                      <a:pPr marL="285750" lvl="0" indent="-285750" algn="l">
                        <a:lnSpc>
                          <a:spcPct val="100000"/>
                        </a:lnSpc>
                        <a:spcBef>
                          <a:spcPts val="0"/>
                        </a:spcBef>
                        <a:spcAft>
                          <a:spcPts val="0"/>
                        </a:spcAft>
                        <a:buFontTx/>
                        <a:buChar char="-"/>
                      </a:pPr>
                      <a:r>
                        <a:rPr lang="en-US" sz="1400" b="0" dirty="0">
                          <a:latin typeface="Times New Roman" panose="02020603050405020304" pitchFamily="18" charset="0"/>
                          <a:cs typeface="Times New Roman" panose="02020603050405020304" pitchFamily="18" charset="0"/>
                        </a:rPr>
                        <a:t> High volume of repetitive/duplicate grievances. - Lack of transparency causes public distrust.</a:t>
                      </a:r>
                      <a:endParaRPr lang="en-IN" sz="1400" b="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400" b="1" dirty="0">
                          <a:latin typeface="Times New Roman" panose="02020603050405020304" pitchFamily="18" charset="0"/>
                          <a:cs typeface="Times New Roman" panose="02020603050405020304" pitchFamily="18" charset="0"/>
                        </a:rPr>
                        <a:t>Customer Gains: </a:t>
                      </a:r>
                    </a:p>
                    <a:p>
                      <a:pPr marL="285750" indent="-285750">
                        <a:buFontTx/>
                        <a:buChar char="-"/>
                      </a:pPr>
                      <a:r>
                        <a:rPr lang="en-US" sz="1400" b="0" dirty="0">
                          <a:latin typeface="Times New Roman" panose="02020603050405020304" pitchFamily="18" charset="0"/>
                          <a:cs typeface="Times New Roman" panose="02020603050405020304" pitchFamily="18" charset="0"/>
                        </a:rPr>
                        <a:t>Instant, accurate petition routing.</a:t>
                      </a:r>
                    </a:p>
                    <a:p>
                      <a:pPr marL="285750" indent="-285750">
                        <a:buFontTx/>
                        <a:buChar char="-"/>
                      </a:pPr>
                      <a:r>
                        <a:rPr lang="en-US" sz="1400" b="0" dirty="0">
                          <a:latin typeface="Times New Roman" panose="02020603050405020304" pitchFamily="18" charset="0"/>
                          <a:cs typeface="Times New Roman" panose="02020603050405020304" pitchFamily="18" charset="0"/>
                        </a:rPr>
                        <a:t> Automated tracking and resolution monitoring. - Reduced staff time spent on duplicates. </a:t>
                      </a:r>
                    </a:p>
                    <a:p>
                      <a:pPr marL="285750" indent="-285750">
                        <a:buFontTx/>
                        <a:buChar char="-"/>
                      </a:pPr>
                      <a:r>
                        <a:rPr lang="en-US" sz="1400" b="0" dirty="0">
                          <a:latin typeface="Times New Roman" panose="02020603050405020304" pitchFamily="18" charset="0"/>
                          <a:cs typeface="Times New Roman" panose="02020603050405020304" pitchFamily="18" charset="0"/>
                        </a:rPr>
                        <a:t>Improved compliance and public satisfaction.</a:t>
                      </a:r>
                      <a:endParaRPr lang="en-IN" sz="1400" b="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0"/>
                  </a:ext>
                </a:extLst>
              </a:tr>
              <a:tr h="1826232">
                <a:tc>
                  <a:txBody>
                    <a:bodyPr/>
                    <a:lstStyle/>
                    <a:p>
                      <a:r>
                        <a:rPr lang="en-IN" sz="1400" b="1" dirty="0">
                          <a:latin typeface="Times New Roman" panose="02020603050405020304" pitchFamily="18" charset="0"/>
                          <a:cs typeface="Times New Roman" panose="02020603050405020304" pitchFamily="18" charset="0"/>
                        </a:rPr>
                        <a:t>Our Solution: </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An AI-driven, end-to-end platform using NLP to classify, prioritize, route, and track public petitions until final, verifiable resolution.</a:t>
                      </a:r>
                      <a:endParaRPr lang="en-IN" sz="14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400" b="1" dirty="0">
                          <a:latin typeface="Times New Roman" panose="02020603050405020304" pitchFamily="18" charset="0"/>
                          <a:cs typeface="Times New Roman" panose="02020603050405020304" pitchFamily="18" charset="0"/>
                        </a:rPr>
                        <a:t>Pain Relievers: </a:t>
                      </a:r>
                    </a:p>
                    <a:p>
                      <a:pPr marL="285750" indent="-285750">
                        <a:buFontTx/>
                        <a:buChar char="-"/>
                      </a:pPr>
                      <a:r>
                        <a:rPr lang="en-US" sz="1400" dirty="0">
                          <a:latin typeface="Times New Roman" panose="02020603050405020304" pitchFamily="18" charset="0"/>
                          <a:cs typeface="Times New Roman" panose="02020603050405020304" pitchFamily="18" charset="0"/>
                        </a:rPr>
                        <a:t>Eliminates manual sorting through AI classification.</a:t>
                      </a:r>
                    </a:p>
                    <a:p>
                      <a:pPr marL="285750" indent="-285750">
                        <a:buFontTx/>
                        <a:buChar char="-"/>
                      </a:pPr>
                      <a:r>
                        <a:rPr lang="en-US" sz="1400" dirty="0">
                          <a:latin typeface="Times New Roman" panose="02020603050405020304" pitchFamily="18" charset="0"/>
                          <a:cs typeface="Times New Roman" panose="02020603050405020304" pitchFamily="18" charset="0"/>
                        </a:rPr>
                        <a:t>Automatically flags urgent cases for immediate attention.</a:t>
                      </a:r>
                    </a:p>
                    <a:p>
                      <a:pPr marL="285750" indent="-285750">
                        <a:buFontTx/>
                        <a:buChar char="-"/>
                      </a:pPr>
                      <a:r>
                        <a:rPr lang="en-US" sz="1400" dirty="0">
                          <a:latin typeface="Times New Roman" panose="02020603050405020304" pitchFamily="18" charset="0"/>
                          <a:cs typeface="Times New Roman" panose="02020603050405020304" pitchFamily="18" charset="0"/>
                        </a:rPr>
                        <a:t> Sends automated reminders to officials for timely action.</a:t>
                      </a:r>
                      <a:endParaRPr lang="en-IN" sz="14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400" b="1" dirty="0">
                          <a:latin typeface="Times New Roman" panose="02020603050405020304" pitchFamily="18" charset="0"/>
                          <a:cs typeface="Times New Roman" panose="02020603050405020304" pitchFamily="18" charset="0"/>
                        </a:rPr>
                        <a:t>Gain Creators: </a:t>
                      </a:r>
                    </a:p>
                    <a:p>
                      <a:pPr marL="285750" indent="-285750">
                        <a:buFontTx/>
                        <a:buChar char="-"/>
                      </a:pPr>
                      <a:r>
                        <a:rPr lang="en-US" sz="1400" dirty="0">
                          <a:latin typeface="Times New Roman" panose="02020603050405020304" pitchFamily="18" charset="0"/>
                          <a:cs typeface="Times New Roman" panose="02020603050405020304" pitchFamily="18" charset="0"/>
                        </a:rPr>
                        <a:t>Enables data-driven policy decisions by identifying systemic issues.</a:t>
                      </a:r>
                    </a:p>
                    <a:p>
                      <a:pPr marL="285750" indent="-285750">
                        <a:buFontTx/>
                        <a:buChar char="-"/>
                      </a:pPr>
                      <a:r>
                        <a:rPr lang="en-US" sz="1400" dirty="0">
                          <a:latin typeface="Times New Roman" panose="02020603050405020304" pitchFamily="18" charset="0"/>
                          <a:cs typeface="Times New Roman" panose="02020603050405020304" pitchFamily="18" charset="0"/>
                        </a:rPr>
                        <a:t> Builds public confidence through transparent, real-time status updates. </a:t>
                      </a:r>
                    </a:p>
                    <a:p>
                      <a:pPr marL="285750" indent="-285750">
                        <a:buFontTx/>
                        <a:buChar char="-"/>
                      </a:pPr>
                      <a:r>
                        <a:rPr lang="en-US" sz="1400" dirty="0">
                          <a:latin typeface="Times New Roman" panose="02020603050405020304" pitchFamily="18" charset="0"/>
                          <a:cs typeface="Times New Roman" panose="02020603050405020304" pitchFamily="18" charset="0"/>
                        </a:rPr>
                        <a:t>Reduces operational costs by optimizing staff workflow.</a:t>
                      </a:r>
                      <a:endParaRPr lang="en-IN" sz="14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1"/>
                  </a:ext>
                </a:extLst>
              </a:tr>
              <a:tr h="2021813">
                <a:tc>
                  <a:txBody>
                    <a:bodyPr/>
                    <a:lstStyle/>
                    <a:p>
                      <a:r>
                        <a:rPr lang="en-IN" sz="1400" b="1" dirty="0">
                          <a:latin typeface="Times New Roman" panose="02020603050405020304" pitchFamily="18" charset="0"/>
                          <a:cs typeface="Times New Roman" panose="02020603050405020304" pitchFamily="18" charset="0"/>
                        </a:rPr>
                        <a:t>Notes: </a:t>
                      </a:r>
                    </a:p>
                    <a:p>
                      <a:r>
                        <a:rPr lang="en-US" sz="1400" dirty="0"/>
                        <a:t>The pilot will be deployed in a high-volume urban area, and the system must be capable of processing petitions in multiple languages, focusing the initial launch on core features like Classification and Urgency Flagging.</a:t>
                      </a:r>
                      <a:endParaRPr lang="en-IN" sz="14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400" b="1" dirty="0">
                          <a:latin typeface="Times New Roman" panose="02020603050405020304" pitchFamily="18" charset="0"/>
                          <a:cs typeface="Times New Roman" panose="02020603050405020304" pitchFamily="18" charset="0"/>
                        </a:rPr>
                        <a:t>Assumptions</a:t>
                      </a:r>
                      <a:r>
                        <a:rPr lang="en-IN" sz="1400" b="1" i="0" u="none" strike="noStrike" dirty="0">
                          <a:latin typeface="Times New Roman" panose="02020603050405020304" pitchFamily="18" charset="0"/>
                          <a:cs typeface="Times New Roman" panose="02020603050405020304" pitchFamily="18" charset="0"/>
                        </a:rPr>
                        <a:t>:</a:t>
                      </a:r>
                      <a:endParaRPr lang="en-IN" sz="1400" b="1" i="0" u="none" strike="noStrike" noProof="0" dirty="0">
                        <a:latin typeface="Times New Roman" panose="02020603050405020304" pitchFamily="18" charset="0"/>
                        <a:cs typeface="Times New Roman" panose="02020603050405020304" pitchFamily="18" charset="0"/>
                      </a:endParaRPr>
                    </a:p>
                    <a:p>
                      <a:r>
                        <a:rPr lang="en-US" sz="1400" dirty="0"/>
                        <a:t>Success relies on the government providing historical petition data for AI training and a commitment from officials to use the tracking system to update statuses promptly.</a:t>
                      </a:r>
                      <a:endParaRPr lang="en-IN" sz="14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400" b="1" dirty="0">
                          <a:latin typeface="Times New Roman" panose="02020603050405020304" pitchFamily="18" charset="0"/>
                          <a:cs typeface="Times New Roman" panose="02020603050405020304" pitchFamily="18" charset="0"/>
                        </a:rPr>
                        <a:t>Evidence/Signals: </a:t>
                      </a:r>
                    </a:p>
                    <a:p>
                      <a:r>
                        <a:rPr lang="en-US" sz="1400" b="0" dirty="0"/>
                        <a:t>The AI Petition Analyst is urgently needed because manual processes waste up to 30% of staff time dealing with general sorting and 20% of redundant follow-ups.</a:t>
                      </a:r>
                    </a:p>
                    <a:p>
                      <a:r>
                        <a:rPr lang="en-US" sz="1400" b="0" dirty="0"/>
                        <a:t>The core value delivered is a massive gain in efficiency and public trust.</a:t>
                      </a:r>
                    </a:p>
                    <a:p>
                      <a:pPr lvl="0">
                        <a:buNone/>
                      </a:pPr>
                      <a:endParaRPr lang="en-IN" sz="1400" b="1"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latin typeface="Times New Roman" panose="02020603050405020304" pitchFamily="18" charset="0"/>
                <a:cs typeface="Times New Roman" panose="02020603050405020304" pitchFamily="18" charset="0"/>
              </a:rPr>
              <a:t>Idea 1 – [</a:t>
            </a:r>
            <a:r>
              <a:rPr lang="en-IN" sz="3600" b="1" dirty="0">
                <a:latin typeface="Times New Roman" panose="02020603050405020304" pitchFamily="18" charset="0"/>
                <a:cs typeface="Times New Roman" panose="02020603050405020304" pitchFamily="18" charset="0"/>
              </a:rPr>
              <a:t>NLP Classification Engine</a:t>
            </a:r>
            <a:r>
              <a:rPr sz="3600" b="1"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vert="horz" lIns="91440" tIns="45720" rIns="91440" bIns="45720" rtlCol="0" anchor="t">
            <a:normAutofit/>
          </a:bodyPr>
          <a:lstStyle/>
          <a:p>
            <a:pPr>
              <a:defRPr sz="1800"/>
            </a:pPr>
            <a:r>
              <a:rPr lang="en-US" sz="1900" b="1" dirty="0">
                <a:latin typeface="Times New Roman" panose="02020603050405020304" pitchFamily="18" charset="0"/>
                <a:ea typeface="+mn-lt"/>
                <a:cs typeface="Times New Roman" panose="02020603050405020304" pitchFamily="18" charset="0"/>
              </a:rPr>
              <a:t>Concept Summary:</a:t>
            </a:r>
            <a:br>
              <a:rPr lang="en-US" b="1" dirty="0">
                <a:latin typeface="Times New Roman" panose="02020603050405020304" pitchFamily="18" charset="0"/>
                <a:ea typeface="+mn-lt"/>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Develop a Machine Learning model using NLP to accurately sort incoming  petition text into over 30 categories (e.g., Roads, Health, Utilities)</a:t>
            </a:r>
          </a:p>
          <a:p>
            <a:pPr marL="0" indent="0">
              <a:buNone/>
              <a:defRPr sz="1800"/>
            </a:pPr>
            <a:endParaRPr lang="en-US" b="1" dirty="0">
              <a:latin typeface="Times New Roman" panose="02020603050405020304" pitchFamily="18" charset="0"/>
              <a:ea typeface="+mn-lt"/>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Key Features:</a:t>
            </a:r>
            <a:endParaRPr lang="en-US" sz="1900" dirty="0">
              <a:latin typeface="Times New Roman" panose="02020603050405020304" pitchFamily="18" charset="0"/>
              <a:cs typeface="Times New Roman" panose="02020603050405020304" pitchFamily="18" charset="0"/>
            </a:endParaRPr>
          </a:p>
          <a:p>
            <a:pPr lvl="1">
              <a:defRPr sz="1800"/>
            </a:pPr>
            <a:r>
              <a:rPr lang="en-US" dirty="0">
                <a:latin typeface="Times New Roman" panose="02020603050405020304" pitchFamily="18" charset="0"/>
                <a:cs typeface="Times New Roman" panose="02020603050405020304" pitchFamily="18" charset="0"/>
              </a:rPr>
              <a:t>NLP (Transformer/BERT) model</a:t>
            </a:r>
          </a:p>
          <a:p>
            <a:pPr lvl="1">
              <a:defRPr sz="1800"/>
            </a:pPr>
            <a:r>
              <a:rPr lang="en-US" dirty="0">
                <a:latin typeface="Times New Roman" panose="02020603050405020304" pitchFamily="18" charset="0"/>
                <a:cs typeface="Times New Roman" panose="02020603050405020304" pitchFamily="18" charset="0"/>
              </a:rPr>
              <a:t>90%+ classification accuracy</a:t>
            </a:r>
          </a:p>
          <a:p>
            <a:pPr lvl="1">
              <a:defRPr sz="1800"/>
            </a:pPr>
            <a:r>
              <a:rPr lang="en-US" dirty="0">
                <a:latin typeface="Times New Roman" panose="02020603050405020304" pitchFamily="18" charset="0"/>
                <a:cs typeface="Times New Roman" panose="02020603050405020304" pitchFamily="18" charset="0"/>
              </a:rPr>
              <a:t>Real-time routing API.</a:t>
            </a:r>
          </a:p>
          <a:p>
            <a:pPr marL="0" indent="0">
              <a:buNone/>
              <a:defRPr sz="1800"/>
            </a:pPr>
            <a:endParaRPr lang="en-US" dirty="0">
              <a:latin typeface="Times New Roman" panose="02020603050405020304" pitchFamily="18" charset="0"/>
              <a:ea typeface="+mn-lt"/>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Value Proposition:</a:t>
            </a:r>
            <a:br>
              <a:rPr lang="en-US" b="1" dirty="0">
                <a:latin typeface="Times New Roman" panose="02020603050405020304" pitchFamily="18" charset="0"/>
                <a:ea typeface="+mn-lt"/>
                <a:cs typeface="Times New Roman" panose="02020603050405020304" pitchFamily="18" charset="0"/>
              </a:rPr>
            </a:br>
            <a:r>
              <a:rPr lang="en-US" dirty="0">
                <a:latin typeface="Times New Roman" panose="02020603050405020304" pitchFamily="18" charset="0"/>
                <a:ea typeface="+mn-lt"/>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ore foundation for efficiency: </a:t>
            </a:r>
            <a:r>
              <a:rPr lang="en-US" b="1" dirty="0">
                <a:latin typeface="Times New Roman" panose="02020603050405020304" pitchFamily="18" charset="0"/>
                <a:cs typeface="Times New Roman" panose="02020603050405020304" pitchFamily="18" charset="0"/>
              </a:rPr>
              <a:t>Instant, accurate routing</a:t>
            </a:r>
            <a:r>
              <a:rPr lang="en-US" dirty="0">
                <a:latin typeface="Times New Roman" panose="02020603050405020304" pitchFamily="18" charset="0"/>
                <a:cs typeface="Times New Roman" panose="02020603050405020304" pitchFamily="18" charset="0"/>
              </a:rPr>
              <a:t> to the right official/department</a:t>
            </a:r>
            <a:endParaRPr lang="en-US" dirty="0">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b="1" dirty="0">
                <a:latin typeface="Times New Roman" panose="02020603050405020304" pitchFamily="18" charset="0"/>
                <a:cs typeface="Times New Roman" panose="02020603050405020304" pitchFamily="18" charset="0"/>
              </a:rPr>
              <a:t>Idea 2 – [</a:t>
            </a:r>
            <a:r>
              <a:rPr lang="en-IN" sz="3600" b="1" dirty="0">
                <a:latin typeface="Times New Roman" panose="02020603050405020304" pitchFamily="18" charset="0"/>
                <a:cs typeface="Times New Roman" panose="02020603050405020304" pitchFamily="18" charset="0"/>
              </a:rPr>
              <a:t>Automated Tracking &amp; Reminder System</a:t>
            </a:r>
            <a:r>
              <a:rPr sz="3600" b="1"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vert="horz" lIns="91440" tIns="45720" rIns="91440" bIns="45720" rtlCol="0" anchor="t">
            <a:normAutofit/>
          </a:bodyPr>
          <a:lstStyle/>
          <a:p>
            <a:pPr>
              <a:defRPr sz="1800"/>
            </a:pPr>
            <a:r>
              <a:rPr lang="en-US" sz="1900" b="1" dirty="0">
                <a:latin typeface="Times New Roman" panose="02020603050405020304" pitchFamily="18" charset="0"/>
                <a:ea typeface="+mn-lt"/>
                <a:cs typeface="Times New Roman" panose="02020603050405020304" pitchFamily="18" charset="0"/>
              </a:rPr>
              <a:t>Concept Summary:</a:t>
            </a:r>
          </a:p>
          <a:p>
            <a:pPr marL="0" indent="0">
              <a:buNone/>
              <a:defRPr sz="1800"/>
            </a:pPr>
            <a:r>
              <a:rPr lang="en-US" dirty="0">
                <a:latin typeface="Times New Roman" panose="02020603050405020304" pitchFamily="18" charset="0"/>
                <a:cs typeface="Times New Roman" panose="02020603050405020304" pitchFamily="18" charset="0"/>
              </a:rPr>
              <a:t>	A workflow engine that monitors the petition's status against resolution SLA and 	automatically generates official follow-up </a:t>
            </a:r>
            <a:r>
              <a:rPr lang="en-US" dirty="0" err="1">
                <a:latin typeface="Times New Roman" panose="02020603050405020304" pitchFamily="18" charset="0"/>
                <a:cs typeface="Times New Roman" panose="02020603050405020304" pitchFamily="18" charset="0"/>
              </a:rPr>
              <a:t>reminders.NLP</a:t>
            </a:r>
            <a:r>
              <a:rPr lang="en-US" dirty="0">
                <a:latin typeface="Times New Roman" panose="02020603050405020304" pitchFamily="18" charset="0"/>
                <a:cs typeface="Times New Roman" panose="02020603050405020304" pitchFamily="18" charset="0"/>
              </a:rPr>
              <a:t> based Automation.</a:t>
            </a:r>
          </a:p>
          <a:p>
            <a:pPr marL="0" indent="0">
              <a:buNone/>
              <a:defRPr sz="1800"/>
            </a:pPr>
            <a:endParaRPr lang="en-US" dirty="0">
              <a:latin typeface="Times New Roman" panose="02020603050405020304" pitchFamily="18" charset="0"/>
              <a:ea typeface="+mn-lt"/>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Key Features:</a:t>
            </a:r>
            <a:endParaRPr lang="en-US" sz="1900" dirty="0">
              <a:latin typeface="Times New Roman" panose="02020603050405020304" pitchFamily="18" charset="0"/>
              <a:cs typeface="Times New Roman" panose="02020603050405020304" pitchFamily="18" charset="0"/>
            </a:endParaRPr>
          </a:p>
          <a:p>
            <a:pPr lvl="1">
              <a:defRPr sz="1800"/>
            </a:pPr>
            <a:r>
              <a:rPr lang="en-US" dirty="0">
                <a:latin typeface="Times New Roman" panose="02020603050405020304" pitchFamily="18" charset="0"/>
                <a:cs typeface="Times New Roman" panose="02020603050405020304" pitchFamily="18" charset="0"/>
              </a:rPr>
              <a:t>Workflow automation engine</a:t>
            </a:r>
          </a:p>
          <a:p>
            <a:pPr lvl="1">
              <a:defRPr sz="1800"/>
            </a:pPr>
            <a:r>
              <a:rPr lang="en-US" dirty="0">
                <a:latin typeface="Times New Roman" panose="02020603050405020304" pitchFamily="18" charset="0"/>
                <a:cs typeface="Times New Roman" panose="02020603050405020304" pitchFamily="18" charset="0"/>
              </a:rPr>
              <a:t>Deadline monitoring</a:t>
            </a:r>
          </a:p>
          <a:p>
            <a:pPr lvl="1">
              <a:defRPr sz="1800"/>
            </a:pPr>
            <a:r>
              <a:rPr lang="en-US" dirty="0">
                <a:latin typeface="Times New Roman" panose="02020603050405020304" pitchFamily="18" charset="0"/>
                <a:cs typeface="Times New Roman" panose="02020603050405020304" pitchFamily="18" charset="0"/>
              </a:rPr>
              <a:t>Email/SMS reminders to officials</a:t>
            </a:r>
          </a:p>
          <a:p>
            <a:pPr lvl="1">
              <a:defRPr sz="1800"/>
            </a:pPr>
            <a:r>
              <a:rPr lang="en-US" dirty="0">
                <a:latin typeface="Times New Roman" panose="02020603050405020304" pitchFamily="18" charset="0"/>
                <a:cs typeface="Times New Roman" panose="02020603050405020304" pitchFamily="18" charset="0"/>
              </a:rPr>
              <a:t>Audit log of all actions.</a:t>
            </a:r>
          </a:p>
          <a:p>
            <a:pPr marL="400050" lvl="1" indent="0">
              <a:buNone/>
              <a:defRPr sz="1800"/>
            </a:pPr>
            <a:endParaRPr lang="en-US" dirty="0">
              <a:latin typeface="Times New Roman" panose="02020603050405020304" pitchFamily="18" charset="0"/>
              <a:ea typeface="+mn-lt"/>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Value Proposition:</a:t>
            </a:r>
            <a:br>
              <a:rPr lang="en-US" b="1" dirty="0">
                <a:latin typeface="Times New Roman" panose="02020603050405020304" pitchFamily="18" charset="0"/>
                <a:ea typeface="+mn-lt"/>
                <a:cs typeface="Times New Roman" panose="02020603050405020304" pitchFamily="18" charset="0"/>
              </a:rPr>
            </a:br>
            <a:r>
              <a:rPr lang="en-US" b="1" dirty="0">
                <a:latin typeface="Times New Roman" panose="02020603050405020304" pitchFamily="18" charset="0"/>
                <a:ea typeface="+mn-lt"/>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Enforces </a:t>
            </a:r>
            <a:r>
              <a:rPr lang="en-US" b="1" dirty="0">
                <a:latin typeface="Times New Roman" panose="02020603050405020304" pitchFamily="18" charset="0"/>
                <a:cs typeface="Times New Roman" panose="02020603050405020304" pitchFamily="18" charset="0"/>
              </a:rPr>
              <a:t>accountability and compliance</a:t>
            </a:r>
            <a:r>
              <a:rPr lang="en-US" dirty="0">
                <a:latin typeface="Times New Roman" panose="02020603050405020304" pitchFamily="18" charset="0"/>
                <a:cs typeface="Times New Roman" panose="02020603050405020304" pitchFamily="18" charset="0"/>
              </a:rPr>
              <a:t> with service delivery deadlines.</a:t>
            </a:r>
            <a:endParaRPr lang="en-US" dirty="0">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b="1" dirty="0">
                <a:latin typeface="Times New Roman" panose="02020603050405020304" pitchFamily="18" charset="0"/>
                <a:cs typeface="Times New Roman" panose="02020603050405020304" pitchFamily="18" charset="0"/>
              </a:rPr>
              <a:t>Idea 3 – </a:t>
            </a:r>
            <a:r>
              <a:rPr lang="en-US" sz="3600" b="1" dirty="0">
                <a:latin typeface="Times New Roman" panose="02020603050405020304" pitchFamily="18" charset="0"/>
                <a:cs typeface="Times New Roman" panose="02020603050405020304" pitchFamily="18" charset="0"/>
              </a:rPr>
              <a:t>[</a:t>
            </a:r>
            <a:r>
              <a:rPr lang="en-IN" sz="3600" b="1" dirty="0">
                <a:latin typeface="Times New Roman" panose="02020603050405020304" pitchFamily="18" charset="0"/>
                <a:cs typeface="Times New Roman" panose="02020603050405020304" pitchFamily="18" charset="0"/>
              </a:rPr>
              <a:t>Repetition &amp; Systemic Grievance Identifier</a:t>
            </a:r>
            <a:r>
              <a:rPr lang="en-US" sz="3600" b="1" dirty="0">
                <a:latin typeface="Times New Roman" panose="02020603050405020304" pitchFamily="18" charset="0"/>
                <a:cs typeface="Times New Roman" panose="02020603050405020304" pitchFamily="18" charset="0"/>
              </a:rPr>
              <a:t>]</a:t>
            </a:r>
            <a:endParaRPr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vert="horz" lIns="91440" tIns="45720" rIns="91440" bIns="45720" rtlCol="0" anchor="t">
            <a:normAutofit/>
          </a:bodyPr>
          <a:lstStyle/>
          <a:p>
            <a:pPr>
              <a:defRPr sz="1800"/>
            </a:pPr>
            <a:r>
              <a:rPr lang="en-US" sz="1900" b="1" dirty="0">
                <a:latin typeface="Times New Roman" panose="02020603050405020304" pitchFamily="18" charset="0"/>
                <a:ea typeface="+mn-lt"/>
                <a:cs typeface="Times New Roman" panose="02020603050405020304" pitchFamily="18" charset="0"/>
              </a:rPr>
              <a:t>Concept Summary:</a:t>
            </a:r>
            <a:br>
              <a:rPr lang="en-US" b="1" dirty="0">
                <a:latin typeface="Times New Roman" panose="02020603050405020304" pitchFamily="18" charset="0"/>
                <a:ea typeface="+mn-lt"/>
                <a:cs typeface="Times New Roman" panose="02020603050405020304" pitchFamily="18" charset="0"/>
              </a:rPr>
            </a:br>
            <a:r>
              <a:rPr lang="en-US" b="1" dirty="0">
                <a:latin typeface="Times New Roman" panose="02020603050405020304" pitchFamily="18" charset="0"/>
                <a:ea typeface="+mn-lt"/>
                <a:cs typeface="Times New Roman" panose="02020603050405020304" pitchFamily="18" charset="0"/>
              </a:rPr>
              <a:t>		</a:t>
            </a:r>
            <a:r>
              <a:rPr lang="en-US" dirty="0">
                <a:latin typeface="Times New Roman" panose="02020603050405020304" pitchFamily="18" charset="0"/>
                <a:ea typeface="+mn-lt"/>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similarity-detection AI that flags duplicate petitions or groups common, 		 recurring grievances to expose systemic issues.</a:t>
            </a:r>
          </a:p>
          <a:p>
            <a:pPr marL="0" indent="0">
              <a:buNone/>
              <a:defRPr sz="1800"/>
            </a:pPr>
            <a:endParaRPr lang="en-US" b="1" dirty="0">
              <a:latin typeface="Times New Roman" panose="02020603050405020304" pitchFamily="18" charset="0"/>
              <a:ea typeface="+mn-lt"/>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Key Features:</a:t>
            </a:r>
            <a:endParaRPr lang="en-US" sz="1900" dirty="0">
              <a:latin typeface="Times New Roman" panose="02020603050405020304" pitchFamily="18" charset="0"/>
              <a:cs typeface="Times New Roman" panose="02020603050405020304" pitchFamily="18" charset="0"/>
            </a:endParaRPr>
          </a:p>
          <a:p>
            <a:pPr lvl="1">
              <a:defRPr sz="1800"/>
            </a:pPr>
            <a:r>
              <a:rPr lang="en-US" dirty="0">
                <a:latin typeface="Times New Roman" panose="02020603050405020304" pitchFamily="18" charset="0"/>
                <a:cs typeface="Times New Roman" panose="02020603050405020304" pitchFamily="18" charset="0"/>
              </a:rPr>
              <a:t>Semantic similarity search</a:t>
            </a:r>
          </a:p>
          <a:p>
            <a:pPr lvl="1">
              <a:defRPr sz="1800"/>
            </a:pPr>
            <a:r>
              <a:rPr lang="en-US" dirty="0">
                <a:latin typeface="Times New Roman" panose="02020603050405020304" pitchFamily="18" charset="0"/>
                <a:cs typeface="Times New Roman" panose="02020603050405020304" pitchFamily="18" charset="0"/>
              </a:rPr>
              <a:t>Deduplication algorithms</a:t>
            </a:r>
          </a:p>
          <a:p>
            <a:pPr lvl="1">
              <a:defRPr sz="1800"/>
            </a:pPr>
            <a:r>
              <a:rPr lang="en-US" dirty="0">
                <a:latin typeface="Times New Roman" panose="02020603050405020304" pitchFamily="18" charset="0"/>
                <a:cs typeface="Times New Roman" panose="02020603050405020304" pitchFamily="18" charset="0"/>
              </a:rPr>
              <a:t>Trend analysis reports on top 5 repeating issues.</a:t>
            </a:r>
          </a:p>
          <a:p>
            <a:pPr marL="400050" lvl="1" indent="0">
              <a:buNone/>
              <a:defRPr sz="1800"/>
            </a:pPr>
            <a:endParaRPr lang="en-US" dirty="0">
              <a:latin typeface="Times New Roman" panose="02020603050405020304" pitchFamily="18" charset="0"/>
              <a:ea typeface="+mn-lt"/>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Value Proposition:</a:t>
            </a:r>
            <a:br>
              <a:rPr lang="en-US" b="1" dirty="0">
                <a:latin typeface="Times New Roman" panose="02020603050405020304" pitchFamily="18" charset="0"/>
                <a:ea typeface="+mn-lt"/>
                <a:cs typeface="Times New Roman" panose="02020603050405020304" pitchFamily="18" charset="0"/>
              </a:rPr>
            </a:br>
            <a:r>
              <a:rPr lang="en-US" dirty="0">
                <a:latin typeface="Times New Roman" panose="02020603050405020304" pitchFamily="18" charset="0"/>
                <a:ea typeface="+mn-lt"/>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Saves staff time</a:t>
            </a:r>
            <a:r>
              <a:rPr lang="en-US" dirty="0">
                <a:latin typeface="Times New Roman" panose="02020603050405020304" pitchFamily="18" charset="0"/>
                <a:cs typeface="Times New Roman" panose="02020603050405020304" pitchFamily="18" charset="0"/>
              </a:rPr>
              <a:t> by ignoring noise and enables </a:t>
            </a:r>
            <a:r>
              <a:rPr lang="en-US" b="1" dirty="0">
                <a:latin typeface="Times New Roman" panose="02020603050405020304" pitchFamily="18" charset="0"/>
                <a:cs typeface="Times New Roman" panose="02020603050405020304" pitchFamily="18" charset="0"/>
              </a:rPr>
              <a:t>proactive policy change</a:t>
            </a:r>
            <a:r>
              <a:rPr lang="en-US" dirty="0">
                <a:latin typeface="Times New Roman" panose="02020603050405020304" pitchFamily="18" charset="0"/>
                <a:cs typeface="Times New Roman" panose="02020603050405020304" pitchFamily="18" charset="0"/>
              </a:rPr>
              <a:t> 			based on hard data.</a:t>
            </a:r>
            <a:endParaRPr lang="en-US" dirty="0">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latin typeface="Times New Roman" panose="02020603050405020304" pitchFamily="18" charset="0"/>
                <a:cs typeface="Times New Roman" panose="02020603050405020304" pitchFamily="18" charset="0"/>
              </a:rPr>
              <a:t>Idea Evaluation</a:t>
            </a:r>
          </a:p>
        </p:txBody>
      </p:sp>
      <p:graphicFrame>
        <p:nvGraphicFramePr>
          <p:cNvPr id="3" name="Table 2"/>
          <p:cNvGraphicFramePr>
            <a:graphicFrameLocks noGrp="1"/>
          </p:cNvGraphicFramePr>
          <p:nvPr>
            <p:extLst>
              <p:ext uri="{D42A27DB-BD31-4B8C-83A1-F6EECF244321}">
                <p14:modId xmlns:p14="http://schemas.microsoft.com/office/powerpoint/2010/main" val="731901394"/>
              </p:ext>
            </p:extLst>
          </p:nvPr>
        </p:nvGraphicFramePr>
        <p:xfrm>
          <a:off x="457200" y="1463040"/>
          <a:ext cx="8229600" cy="34747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868680">
                <a:tc>
                  <a:txBody>
                    <a:bodyPr/>
                    <a:lstStyle/>
                    <a:p>
                      <a:r>
                        <a:rPr sz="1800" b="1">
                          <a:latin typeface="Times New Roman" panose="02020603050405020304" pitchFamily="18" charset="0"/>
                          <a:cs typeface="Times New Roman" panose="02020603050405020304" pitchFamily="18" charset="0"/>
                        </a:rPr>
                        <a:t>Criteria / Idea</a:t>
                      </a:r>
                    </a:p>
                  </a:txBody>
                  <a:tcPr marL="54000" marR="54000" marT="36000" marB="36000"/>
                </a:tc>
                <a:tc>
                  <a:txBody>
                    <a:bodyPr/>
                    <a:lstStyle/>
                    <a:p>
                      <a:r>
                        <a:rPr sz="1800" b="1">
                          <a:latin typeface="Times New Roman" panose="02020603050405020304" pitchFamily="18" charset="0"/>
                          <a:cs typeface="Times New Roman" panose="02020603050405020304" pitchFamily="18" charset="0"/>
                        </a:rPr>
                        <a:t>Idea 1</a:t>
                      </a:r>
                    </a:p>
                  </a:txBody>
                  <a:tcPr marL="54000" marR="54000" marT="36000" marB="36000"/>
                </a:tc>
                <a:tc>
                  <a:txBody>
                    <a:bodyPr/>
                    <a:lstStyle/>
                    <a:p>
                      <a:r>
                        <a:rPr sz="1800" b="1">
                          <a:latin typeface="Times New Roman" panose="02020603050405020304" pitchFamily="18" charset="0"/>
                          <a:cs typeface="Times New Roman" panose="02020603050405020304" pitchFamily="18" charset="0"/>
                        </a:rPr>
                        <a:t>Idea 2</a:t>
                      </a:r>
                    </a:p>
                  </a:txBody>
                  <a:tcPr marL="54000" marR="54000" marT="36000" marB="36000"/>
                </a:tc>
                <a:tc>
                  <a:txBody>
                    <a:bodyPr/>
                    <a:lstStyle/>
                    <a:p>
                      <a:r>
                        <a:rPr sz="1800" b="1">
                          <a:latin typeface="Times New Roman" panose="02020603050405020304" pitchFamily="18" charset="0"/>
                          <a:cs typeface="Times New Roman" panose="02020603050405020304" pitchFamily="18" charset="0"/>
                        </a:rPr>
                        <a:t>Idea 3</a:t>
                      </a:r>
                    </a:p>
                  </a:txBody>
                  <a:tcPr marL="54000" marR="54000" marT="36000" marB="36000"/>
                </a:tc>
                <a:extLst>
                  <a:ext uri="{0D108BD9-81ED-4DB2-BD59-A6C34878D82A}">
                    <a16:rowId xmlns:a16="http://schemas.microsoft.com/office/drawing/2014/main" val="10000"/>
                  </a:ext>
                </a:extLst>
              </a:tr>
              <a:tr h="868680">
                <a:tc>
                  <a:txBody>
                    <a:bodyPr/>
                    <a:lstStyle/>
                    <a:p>
                      <a:pPr lvl="0">
                        <a:buNone/>
                      </a:pPr>
                      <a:r>
                        <a:rPr lang="en-US" sz="1800">
                          <a:latin typeface="Times New Roman" panose="02020603050405020304" pitchFamily="18" charset="0"/>
                          <a:cs typeface="Times New Roman" panose="02020603050405020304" pitchFamily="18" charset="0"/>
                        </a:rPr>
                        <a:t>Desirability (user appeal)</a:t>
                      </a:r>
                    </a:p>
                  </a:txBody>
                  <a:tcPr marL="54000" marR="54000" marT="36000" marB="36000"/>
                </a:tc>
                <a:tc>
                  <a:txBody>
                    <a:bodyPr/>
                    <a:lstStyle/>
                    <a:p>
                      <a:pPr lvl="0">
                        <a:buNone/>
                      </a:pPr>
                      <a:r>
                        <a:rPr lang="en-US" sz="1800" b="0" i="0" u="none" strike="noStrike" noProof="0" dirty="0">
                          <a:latin typeface="Times New Roman" panose="02020603050405020304" pitchFamily="18" charset="0"/>
                          <a:cs typeface="Times New Roman" panose="02020603050405020304" pitchFamily="18" charset="0"/>
                        </a:rPr>
                        <a:t>High</a:t>
                      </a:r>
                      <a:endParaRPr sz="18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800" b="0" i="0" u="none" strike="noStrike" noProof="0">
                          <a:latin typeface="Times New Roman" panose="02020603050405020304" pitchFamily="18" charset="0"/>
                          <a:cs typeface="Times New Roman" panose="02020603050405020304" pitchFamily="18" charset="0"/>
                        </a:rPr>
                        <a:t>High</a:t>
                      </a:r>
                      <a:endParaRPr sz="180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800" b="0" i="0" u="none" strike="noStrike" noProof="0">
                          <a:latin typeface="Times New Roman" panose="02020603050405020304" pitchFamily="18" charset="0"/>
                          <a:cs typeface="Times New Roman" panose="02020603050405020304" pitchFamily="18" charset="0"/>
                        </a:rPr>
                        <a:t>Medium</a:t>
                      </a:r>
                      <a:endParaRPr sz="180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1"/>
                  </a:ext>
                </a:extLst>
              </a:tr>
              <a:tr h="868680">
                <a:tc>
                  <a:txBody>
                    <a:bodyPr/>
                    <a:lstStyle/>
                    <a:p>
                      <a:r>
                        <a:rPr sz="1800">
                          <a:latin typeface="Times New Roman" panose="02020603050405020304" pitchFamily="18" charset="0"/>
                          <a:cs typeface="Times New Roman" panose="02020603050405020304" pitchFamily="18" charset="0"/>
                        </a:rPr>
                        <a:t>Feasibility (technical)</a:t>
                      </a:r>
                    </a:p>
                  </a:txBody>
                  <a:tcPr marL="54000" marR="54000" marT="36000" marB="36000"/>
                </a:tc>
                <a:tc>
                  <a:txBody>
                    <a:bodyPr/>
                    <a:lstStyle/>
                    <a:p>
                      <a:pPr lvl="0">
                        <a:buNone/>
                      </a:pPr>
                      <a:r>
                        <a:rPr lang="en-US" sz="1800" b="0" i="0" u="none" strike="noStrike" noProof="0">
                          <a:latin typeface="Times New Roman" panose="02020603050405020304" pitchFamily="18" charset="0"/>
                          <a:cs typeface="Times New Roman" panose="02020603050405020304" pitchFamily="18" charset="0"/>
                        </a:rPr>
                        <a:t>High</a:t>
                      </a:r>
                      <a:endParaRPr sz="180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800" b="0" i="0" u="none" strike="noStrike" noProof="0">
                          <a:latin typeface="Times New Roman" panose="02020603050405020304" pitchFamily="18" charset="0"/>
                          <a:cs typeface="Times New Roman" panose="02020603050405020304" pitchFamily="18" charset="0"/>
                        </a:rPr>
                        <a:t>High</a:t>
                      </a:r>
                      <a:endParaRPr sz="180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800" b="0" i="0" u="none" strike="noStrike" noProof="0" dirty="0">
                          <a:latin typeface="Times New Roman" panose="02020603050405020304" pitchFamily="18" charset="0"/>
                          <a:cs typeface="Times New Roman" panose="02020603050405020304" pitchFamily="18" charset="0"/>
                        </a:rPr>
                        <a:t>Medium</a:t>
                      </a:r>
                      <a:endParaRPr sz="18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2"/>
                  </a:ext>
                </a:extLst>
              </a:tr>
              <a:tr h="868680">
                <a:tc>
                  <a:txBody>
                    <a:bodyPr/>
                    <a:lstStyle/>
                    <a:p>
                      <a:r>
                        <a:rPr sz="1800">
                          <a:latin typeface="Times New Roman" panose="02020603050405020304" pitchFamily="18" charset="0"/>
                          <a:cs typeface="Times New Roman" panose="02020603050405020304" pitchFamily="18" charset="0"/>
                        </a:rPr>
                        <a:t>Viability (sustainable)</a:t>
                      </a:r>
                    </a:p>
                  </a:txBody>
                  <a:tcPr marL="54000" marR="54000" marT="36000" marB="36000"/>
                </a:tc>
                <a:tc>
                  <a:txBody>
                    <a:bodyPr/>
                    <a:lstStyle/>
                    <a:p>
                      <a:pPr lvl="0">
                        <a:buNone/>
                      </a:pPr>
                      <a:r>
                        <a:rPr lang="en-IN" sz="1800" dirty="0">
                          <a:latin typeface="Times New Roman" panose="02020603050405020304" pitchFamily="18" charset="0"/>
                          <a:cs typeface="Times New Roman" panose="02020603050405020304" pitchFamily="18" charset="0"/>
                        </a:rPr>
                        <a:t>High</a:t>
                      </a:r>
                      <a:endParaRPr sz="18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IN" sz="1800" dirty="0">
                          <a:latin typeface="Times New Roman" panose="02020603050405020304" pitchFamily="18" charset="0"/>
                          <a:cs typeface="Times New Roman" panose="02020603050405020304" pitchFamily="18" charset="0"/>
                        </a:rPr>
                        <a:t>Very High</a:t>
                      </a:r>
                      <a:endParaRPr sz="18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IN" sz="1800" dirty="0">
                          <a:latin typeface="Times New Roman" panose="02020603050405020304" pitchFamily="18" charset="0"/>
                          <a:cs typeface="Times New Roman" panose="02020603050405020304" pitchFamily="18" charset="0"/>
                        </a:rPr>
                        <a:t>Medium</a:t>
                      </a:r>
                      <a:endParaRPr sz="18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CC218996-DC16-6BA9-AC19-F6081DD71680}"/>
              </a:ext>
            </a:extLst>
          </p:cNvPr>
          <p:cNvSpPr txBox="1"/>
          <p:nvPr/>
        </p:nvSpPr>
        <p:spPr>
          <a:xfrm>
            <a:off x="434236" y="5089742"/>
            <a:ext cx="8254651"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b="1" dirty="0">
                <a:latin typeface="Times New Roman" panose="02020603050405020304" pitchFamily="18" charset="0"/>
                <a:cs typeface="Times New Roman" panose="02020603050405020304" pitchFamily="18" charset="0"/>
              </a:rPr>
              <a:t>Selected Idea:</a:t>
            </a:r>
            <a:r>
              <a:rPr lang="en-US" sz="19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Integrated Petition Management Platform</a:t>
            </a:r>
            <a:br>
              <a:rPr lang="en-US" dirty="0">
                <a:latin typeface="Times New Roman" panose="02020603050405020304" pitchFamily="18" charset="0"/>
                <a:cs typeface="Times New Roman" panose="02020603050405020304" pitchFamily="18" charset="0"/>
              </a:rPr>
            </a:br>
            <a:r>
              <a:rPr lang="en-US" sz="1900" b="1" dirty="0">
                <a:latin typeface="Times New Roman" panose="02020603050405020304" pitchFamily="18" charset="0"/>
                <a:cs typeface="Times New Roman" panose="02020603050405020304" pitchFamily="18" charset="0"/>
              </a:rPr>
              <a:t>Reason:</a:t>
            </a:r>
            <a:r>
              <a:rPr lang="en-US" sz="19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highest value is delivered by a holistic solution that doesn't just categorize but also ensures action and provides insights. Viability is high because it solves a critical, recurring governance problem.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latin typeface="Times New Roman" panose="02020603050405020304" pitchFamily="18" charset="0"/>
                <a:cs typeface="Times New Roman" panose="02020603050405020304" pitchFamily="18" charset="0"/>
              </a:rPr>
              <a:t>Selected Idea &amp; Justification</a:t>
            </a:r>
          </a:p>
        </p:txBody>
      </p:sp>
      <p:sp>
        <p:nvSpPr>
          <p:cNvPr id="3" name="Content Placeholder 2"/>
          <p:cNvSpPr>
            <a:spLocks noGrp="1"/>
          </p:cNvSpPr>
          <p:nvPr>
            <p:ph idx="1"/>
          </p:nvPr>
        </p:nvSpPr>
        <p:spPr/>
        <p:txBody>
          <a:bodyPr vert="horz" lIns="91440" tIns="45720" rIns="91440" bIns="45720" rtlCol="0" anchor="t">
            <a:normAutofit/>
          </a:bodyPr>
          <a:lstStyle/>
          <a:p>
            <a:pPr>
              <a:defRPr sz="1800"/>
            </a:pPr>
            <a:r>
              <a:rPr lang="en-US" sz="1900" b="1" dirty="0">
                <a:latin typeface="Times New Roman" panose="02020603050405020304" pitchFamily="18" charset="0"/>
                <a:ea typeface="+mn-lt"/>
                <a:cs typeface="Times New Roman" panose="02020603050405020304" pitchFamily="18" charset="0"/>
              </a:rPr>
              <a:t>Description:</a:t>
            </a:r>
            <a:br>
              <a:rPr lang="en-US" sz="1800" b="1" dirty="0">
                <a:latin typeface="Times New Roman" panose="02020603050405020304" pitchFamily="18" charset="0"/>
                <a:ea typeface="+mn-lt"/>
                <a:cs typeface="Times New Roman" panose="02020603050405020304" pitchFamily="18" charset="0"/>
              </a:rPr>
            </a:br>
            <a:r>
              <a:rPr lang="en-US" sz="1800" b="1" dirty="0">
                <a:latin typeface="Times New Roman" panose="02020603050405020304" pitchFamily="18" charset="0"/>
                <a:ea typeface="+mn-lt"/>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 AI-driven Integrated Petition Management Platform that uses </a:t>
            </a:r>
            <a:r>
              <a:rPr lang="en-US" sz="1800" b="1" dirty="0">
                <a:latin typeface="Times New Roman" panose="02020603050405020304" pitchFamily="18" charset="0"/>
                <a:cs typeface="Times New Roman" panose="02020603050405020304" pitchFamily="18" charset="0"/>
              </a:rPr>
              <a:t>NLP</a:t>
            </a:r>
            <a:r>
              <a:rPr lang="en-US" sz="1800" dirty="0">
                <a:latin typeface="Times New Roman" panose="02020603050405020304" pitchFamily="18" charset="0"/>
                <a:cs typeface="Times New Roman" panose="02020603050405020304" pitchFamily="18" charset="0"/>
              </a:rPr>
              <a:t> for 			instant categorization, </a:t>
            </a:r>
            <a:r>
              <a:rPr lang="en-US" sz="1800" b="1" dirty="0">
                <a:latin typeface="Times New Roman" panose="02020603050405020304" pitchFamily="18" charset="0"/>
                <a:cs typeface="Times New Roman" panose="02020603050405020304" pitchFamily="18" charset="0"/>
              </a:rPr>
              <a:t>Machine Learning</a:t>
            </a:r>
            <a:r>
              <a:rPr lang="en-US" sz="1800" dirty="0">
                <a:latin typeface="Times New Roman" panose="02020603050405020304" pitchFamily="18" charset="0"/>
                <a:cs typeface="Times New Roman" panose="02020603050405020304" pitchFamily="18" charset="0"/>
              </a:rPr>
              <a:t> for urgency flagging and 				repetition detection, and a </a:t>
            </a:r>
            <a:r>
              <a:rPr lang="en-US" sz="1800" b="1" dirty="0">
                <a:latin typeface="Times New Roman" panose="02020603050405020304" pitchFamily="18" charset="0"/>
                <a:cs typeface="Times New Roman" panose="02020603050405020304" pitchFamily="18" charset="0"/>
              </a:rPr>
              <a:t>workflow engine</a:t>
            </a:r>
            <a:r>
              <a:rPr lang="en-US" sz="1800" dirty="0">
                <a:latin typeface="Times New Roman" panose="02020603050405020304" pitchFamily="18" charset="0"/>
                <a:cs typeface="Times New Roman" panose="02020603050405020304" pitchFamily="18" charset="0"/>
              </a:rPr>
              <a:t> for transparent tracking and 			automated reminders.</a:t>
            </a:r>
          </a:p>
          <a:p>
            <a:pPr marL="0" indent="0">
              <a:buNone/>
              <a:defRPr sz="1800"/>
            </a:pPr>
            <a:endParaRPr lang="en-US" sz="1800" dirty="0">
              <a:latin typeface="Times New Roman" panose="02020603050405020304" pitchFamily="18" charset="0"/>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Why We Chose It:</a:t>
            </a:r>
            <a:endParaRPr lang="en-US" sz="19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defRPr sz="1800"/>
            </a:pPr>
            <a:r>
              <a:rPr lang="en-US" altLang="en-US" sz="1800" dirty="0">
                <a:latin typeface="Times New Roman" panose="02020603050405020304" pitchFamily="18" charset="0"/>
                <a:cs typeface="Times New Roman" panose="02020603050405020304" pitchFamily="18" charset="0"/>
              </a:rPr>
              <a:t>Solves the entire petition lifecycle, intake to feedback.</a:t>
            </a:r>
          </a:p>
          <a:p>
            <a:pPr lvl="1" defTabSz="91440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Reduces manual work, immediately improving compliance and value.</a:t>
            </a:r>
          </a:p>
          <a:p>
            <a:pPr lvl="1" defTabSz="91440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Transparency builds public trust, strengthening relations.</a:t>
            </a:r>
          </a:p>
          <a:p>
            <a:pPr marL="0" lvl="0" indent="0" defTabSz="914400" eaLnBrk="0" fontAlgn="base" hangingPunct="0">
              <a:spcBef>
                <a:spcPct val="0"/>
              </a:spcBef>
              <a:spcAft>
                <a:spcPct val="0"/>
              </a:spcAft>
              <a:buNone/>
            </a:pPr>
            <a:endParaRPr lang="en-US" sz="1800" dirty="0">
              <a:latin typeface="Times New Roman" panose="02020603050405020304" pitchFamily="18" charset="0"/>
              <a:cs typeface="Times New Roman" panose="02020603050405020304" pitchFamily="18" charset="0"/>
            </a:endParaRPr>
          </a:p>
          <a:p>
            <a:pPr>
              <a:defRPr sz="1800"/>
            </a:pPr>
            <a:r>
              <a:rPr lang="en-US" sz="1900" b="1" dirty="0">
                <a:latin typeface="Times New Roman" panose="02020603050405020304" pitchFamily="18" charset="0"/>
                <a:ea typeface="+mn-lt"/>
                <a:cs typeface="Times New Roman" panose="02020603050405020304" pitchFamily="18" charset="0"/>
              </a:rPr>
              <a:t>Evidence:</a:t>
            </a:r>
            <a:br>
              <a:rPr lang="en-US" sz="1800" b="1" dirty="0">
                <a:latin typeface="Times New Roman" panose="02020603050405020304" pitchFamily="18" charset="0"/>
                <a:ea typeface="+mn-lt"/>
                <a:cs typeface="Times New Roman" panose="02020603050405020304" pitchFamily="18" charset="0"/>
              </a:rPr>
            </a:br>
            <a:r>
              <a:rPr lang="en-US" sz="1800" dirty="0">
                <a:latin typeface="Times New Roman" panose="02020603050405020304" pitchFamily="18" charset="0"/>
                <a:ea typeface="+mn-lt"/>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Manual grievance systems have a </a:t>
            </a:r>
            <a:r>
              <a:rPr lang="en-US" sz="1800" b="1" dirty="0">
                <a:latin typeface="Times New Roman" panose="02020603050405020304" pitchFamily="18" charset="0"/>
                <a:cs typeface="Times New Roman" panose="02020603050405020304" pitchFamily="18" charset="0"/>
              </a:rPr>
              <a:t>high rate of misclassification (up to 15%)</a:t>
            </a:r>
            <a:r>
              <a:rPr lang="en-US" sz="1800" dirty="0">
                <a:latin typeface="Times New Roman" panose="02020603050405020304" pitchFamily="18" charset="0"/>
                <a:cs typeface="Times New Roman" panose="02020603050405020304" pitchFamily="18" charset="0"/>
              </a:rPr>
              <a:t>. AI models can reduce this significantly while cutting routing time from hours to seconds.</a:t>
            </a:r>
            <a:endParaRPr lang="en-US" sz="1800" dirty="0">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b="1" dirty="0">
                <a:latin typeface="Times New Roman" panose="02020603050405020304" pitchFamily="18" charset="0"/>
                <a:cs typeface="Times New Roman" panose="02020603050405020304" pitchFamily="18" charset="0"/>
              </a:rPr>
              <a:t>Solution Features &amp; Prioritization (</a:t>
            </a:r>
            <a:r>
              <a:rPr sz="3600" b="1" dirty="0" err="1">
                <a:latin typeface="Times New Roman" panose="02020603050405020304" pitchFamily="18" charset="0"/>
                <a:cs typeface="Times New Roman" panose="02020603050405020304" pitchFamily="18" charset="0"/>
              </a:rPr>
              <a:t>MoSCoW</a:t>
            </a:r>
            <a:r>
              <a:rPr sz="3600" b="1" dirty="0">
                <a:latin typeface="Times New Roman" panose="02020603050405020304" pitchFamily="18" charset="0"/>
                <a:cs typeface="Times New Roman" panose="02020603050405020304" pitchFamily="18" charset="0"/>
              </a:rPr>
              <a:t>)</a:t>
            </a:r>
          </a:p>
        </p:txBody>
      </p:sp>
      <p:graphicFrame>
        <p:nvGraphicFramePr>
          <p:cNvPr id="3" name="Table 2"/>
          <p:cNvGraphicFramePr>
            <a:graphicFrameLocks noGrp="1"/>
          </p:cNvGraphicFramePr>
          <p:nvPr>
            <p:extLst>
              <p:ext uri="{D42A27DB-BD31-4B8C-83A1-F6EECF244321}">
                <p14:modId xmlns:p14="http://schemas.microsoft.com/office/powerpoint/2010/main" val="2513309984"/>
              </p:ext>
            </p:extLst>
          </p:nvPr>
        </p:nvGraphicFramePr>
        <p:xfrm>
          <a:off x="582461" y="1713560"/>
          <a:ext cx="8229600" cy="4402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868680">
                <a:tc>
                  <a:txBody>
                    <a:bodyPr/>
                    <a:lstStyle/>
                    <a:p>
                      <a:r>
                        <a:rPr sz="1500">
                          <a:latin typeface="Times New Roman" panose="02020603050405020304" pitchFamily="18" charset="0"/>
                          <a:cs typeface="Times New Roman" panose="02020603050405020304" pitchFamily="18" charset="0"/>
                        </a:rPr>
                        <a:t>Must‑Have (critical for PoC)</a:t>
                      </a:r>
                    </a:p>
                  </a:txBody>
                  <a:tcPr marL="54000" marR="54000" marT="36000" marB="36000"/>
                </a:tc>
                <a:tc>
                  <a:txBody>
                    <a:bodyPr/>
                    <a:lstStyle/>
                    <a:p>
                      <a:pPr marL="285750" lvl="0" indent="-285750" algn="l">
                        <a:lnSpc>
                          <a:spcPct val="100000"/>
                        </a:lnSpc>
                        <a:spcBef>
                          <a:spcPts val="0"/>
                        </a:spcBef>
                        <a:spcAft>
                          <a:spcPts val="0"/>
                        </a:spcAft>
                        <a:buFont typeface="Arial"/>
                        <a:buChar char="•"/>
                      </a:pPr>
                      <a:r>
                        <a:rPr lang="en-US" sz="1500" dirty="0">
                          <a:latin typeface="Times New Roman" panose="02020603050405020304" pitchFamily="18" charset="0"/>
                          <a:cs typeface="Times New Roman" panose="02020603050405020304" pitchFamily="18" charset="0"/>
                        </a:rPr>
                        <a:t>Real-time </a:t>
                      </a:r>
                      <a:r>
                        <a:rPr lang="en-US" sz="1500" b="1" dirty="0">
                          <a:latin typeface="Times New Roman" panose="02020603050405020304" pitchFamily="18" charset="0"/>
                          <a:cs typeface="Times New Roman" panose="02020603050405020304" pitchFamily="18" charset="0"/>
                        </a:rPr>
                        <a:t>NLP Petition Categorization</a:t>
                      </a:r>
                      <a:r>
                        <a:rPr lang="en-US" sz="1500" dirty="0">
                          <a:latin typeface="Times New Roman" panose="02020603050405020304" pitchFamily="18" charset="0"/>
                          <a:cs typeface="Times New Roman" panose="02020603050405020304" pitchFamily="18" charset="0"/>
                        </a:rPr>
                        <a:t> and Routing.</a:t>
                      </a:r>
                    </a:p>
                    <a:p>
                      <a:pPr marL="285750" lvl="0" indent="-285750" algn="l">
                        <a:lnSpc>
                          <a:spcPct val="100000"/>
                        </a:lnSpc>
                        <a:spcBef>
                          <a:spcPts val="0"/>
                        </a:spcBef>
                        <a:spcAft>
                          <a:spcPts val="0"/>
                        </a:spcAft>
                        <a:buFont typeface="Arial"/>
                        <a:buChar char="•"/>
                      </a:pPr>
                      <a:r>
                        <a:rPr lang="en-US" sz="1500" b="1" dirty="0">
                          <a:latin typeface="Times New Roman" panose="02020603050405020304" pitchFamily="18" charset="0"/>
                          <a:cs typeface="Times New Roman" panose="02020603050405020304" pitchFamily="18" charset="0"/>
                        </a:rPr>
                        <a:t>Urgency/Importance</a:t>
                      </a:r>
                      <a:r>
                        <a:rPr lang="en-US" sz="1500" dirty="0">
                          <a:latin typeface="Times New Roman" panose="02020603050405020304" pitchFamily="18" charset="0"/>
                          <a:cs typeface="Times New Roman" panose="02020603050405020304" pitchFamily="18" charset="0"/>
                        </a:rPr>
                        <a:t> Flagging. </a:t>
                      </a:r>
                    </a:p>
                    <a:p>
                      <a:pPr marL="285750" lvl="0" indent="-285750" algn="l">
                        <a:lnSpc>
                          <a:spcPct val="100000"/>
                        </a:lnSpc>
                        <a:spcBef>
                          <a:spcPts val="0"/>
                        </a:spcBef>
                        <a:spcAft>
                          <a:spcPts val="0"/>
                        </a:spcAft>
                        <a:buFont typeface="Arial"/>
                        <a:buChar char="•"/>
                      </a:pPr>
                      <a:r>
                        <a:rPr lang="en-US" sz="1500" b="1" dirty="0">
                          <a:latin typeface="Times New Roman" panose="02020603050405020304" pitchFamily="18" charset="0"/>
                          <a:cs typeface="Times New Roman" panose="02020603050405020304" pitchFamily="18" charset="0"/>
                        </a:rPr>
                        <a:t>Petitioner Status</a:t>
                      </a:r>
                      <a:r>
                        <a:rPr lang="en-US" sz="1500" dirty="0">
                          <a:latin typeface="Times New Roman" panose="02020603050405020304" pitchFamily="18" charset="0"/>
                          <a:cs typeface="Times New Roman" panose="02020603050405020304" pitchFamily="18" charset="0"/>
                        </a:rPr>
                        <a:t> Communication API (Email/SMS).</a:t>
                      </a:r>
                      <a:endParaRPr sz="15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0"/>
                  </a:ext>
                </a:extLst>
              </a:tr>
              <a:tr h="868680">
                <a:tc>
                  <a:txBody>
                    <a:bodyPr/>
                    <a:lstStyle/>
                    <a:p>
                      <a:r>
                        <a:rPr sz="1500">
                          <a:latin typeface="Times New Roman" panose="02020603050405020304" pitchFamily="18" charset="0"/>
                          <a:cs typeface="Times New Roman" panose="02020603050405020304" pitchFamily="18" charset="0"/>
                        </a:rPr>
                        <a:t>Should‑Have (important)</a:t>
                      </a:r>
                    </a:p>
                  </a:txBody>
                  <a:tcPr marL="54000" marR="54000" marT="36000" marB="36000"/>
                </a:tc>
                <a:tc>
                  <a:txBody>
                    <a:bodyPr/>
                    <a:lstStyle/>
                    <a:p>
                      <a:pPr marL="285750" lvl="0" indent="-285750" algn="l">
                        <a:lnSpc>
                          <a:spcPct val="100000"/>
                        </a:lnSpc>
                        <a:spcBef>
                          <a:spcPts val="0"/>
                        </a:spcBef>
                        <a:spcAft>
                          <a:spcPts val="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Automated </a:t>
                      </a:r>
                      <a:r>
                        <a:rPr lang="en-US" sz="1500" b="1" dirty="0">
                          <a:latin typeface="Times New Roman" panose="02020603050405020304" pitchFamily="18" charset="0"/>
                          <a:cs typeface="Times New Roman" panose="02020603050405020304" pitchFamily="18" charset="0"/>
                        </a:rPr>
                        <a:t>SLA-based Reminder</a:t>
                      </a:r>
                      <a:r>
                        <a:rPr lang="en-US" sz="1500" dirty="0">
                          <a:latin typeface="Times New Roman" panose="02020603050405020304" pitchFamily="18" charset="0"/>
                          <a:cs typeface="Times New Roman" panose="02020603050405020304" pitchFamily="18" charset="0"/>
                        </a:rPr>
                        <a:t> Engine to officials. </a:t>
                      </a:r>
                    </a:p>
                    <a:p>
                      <a:pPr marL="285750" lvl="0" indent="-285750" algn="l">
                        <a:lnSpc>
                          <a:spcPct val="100000"/>
                        </a:lnSpc>
                        <a:spcBef>
                          <a:spcPts val="0"/>
                        </a:spcBef>
                        <a:spcAft>
                          <a:spcPts val="0"/>
                        </a:spcAf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Repetitive Grievance</a:t>
                      </a:r>
                      <a:r>
                        <a:rPr lang="en-US" sz="1500" dirty="0">
                          <a:latin typeface="Times New Roman" panose="02020603050405020304" pitchFamily="18" charset="0"/>
                          <a:cs typeface="Times New Roman" panose="02020603050405020304" pitchFamily="18" charset="0"/>
                        </a:rPr>
                        <a:t> Detection. </a:t>
                      </a:r>
                    </a:p>
                    <a:p>
                      <a:pPr marL="285750" lvl="0" indent="-285750" algn="l">
                        <a:lnSpc>
                          <a:spcPct val="100000"/>
                        </a:lnSpc>
                        <a:spcBef>
                          <a:spcPts val="0"/>
                        </a:spcBef>
                        <a:spcAft>
                          <a:spcPts val="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Unified </a:t>
                      </a:r>
                      <a:r>
                        <a:rPr lang="en-US" sz="1500" b="1" dirty="0">
                          <a:latin typeface="Times New Roman" panose="02020603050405020304" pitchFamily="18" charset="0"/>
                          <a:cs typeface="Times New Roman" panose="02020603050405020304" pitchFamily="18" charset="0"/>
                        </a:rPr>
                        <a:t>Official Dashboard</a:t>
                      </a:r>
                      <a:r>
                        <a:rPr lang="en-US" sz="1500" dirty="0">
                          <a:latin typeface="Times New Roman" panose="02020603050405020304" pitchFamily="18" charset="0"/>
                          <a:cs typeface="Times New Roman" panose="02020603050405020304" pitchFamily="18" charset="0"/>
                        </a:rPr>
                        <a:t> for tracking.</a:t>
                      </a:r>
                      <a:endParaRPr lang="en-US" sz="1500" b="0" i="0" u="none" strike="noStrike" noProof="0" dirty="0">
                        <a:latin typeface="Times New Roman" panose="02020603050405020304" pitchFamily="18" charset="0"/>
                        <a:cs typeface="Times New Roman" panose="02020603050405020304" pitchFamily="18" charset="0"/>
                      </a:endParaRPr>
                    </a:p>
                    <a:p>
                      <a:pPr lvl="0">
                        <a:buNone/>
                      </a:pPr>
                      <a:endParaRPr sz="15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1"/>
                  </a:ext>
                </a:extLst>
              </a:tr>
              <a:tr h="868680">
                <a:tc>
                  <a:txBody>
                    <a:bodyPr/>
                    <a:lstStyle/>
                    <a:p>
                      <a:r>
                        <a:rPr sz="1500">
                          <a:latin typeface="Times New Roman" panose="02020603050405020304" pitchFamily="18" charset="0"/>
                          <a:cs typeface="Times New Roman" panose="02020603050405020304" pitchFamily="18" charset="0"/>
                        </a:rPr>
                        <a:t>Could‑Have (nice to include)</a:t>
                      </a:r>
                    </a:p>
                  </a:txBody>
                  <a:tcPr marL="54000" marR="54000" marT="36000" marB="36000"/>
                </a:tc>
                <a:tc>
                  <a:txBody>
                    <a:bodyPr/>
                    <a:lstStyle/>
                    <a:p>
                      <a:pPr marL="285750" lvl="0" indent="-285750" algn="l">
                        <a:lnSpc>
                          <a:spcPct val="100000"/>
                        </a:lnSpc>
                        <a:spcBef>
                          <a:spcPts val="0"/>
                        </a:spcBef>
                        <a:spcAft>
                          <a:spcPts val="0"/>
                        </a:spcAft>
                        <a:buFont typeface="Arial"/>
                        <a:buChar char="•"/>
                      </a:pPr>
                      <a:r>
                        <a:rPr lang="en-US" sz="1500" b="1" dirty="0">
                          <a:latin typeface="Times New Roman" panose="02020603050405020304" pitchFamily="18" charset="0"/>
                          <a:cs typeface="Times New Roman" panose="02020603050405020304" pitchFamily="18" charset="0"/>
                        </a:rPr>
                        <a:t>Sentiment Analysis</a:t>
                      </a:r>
                      <a:r>
                        <a:rPr lang="en-US" sz="1500" dirty="0">
                          <a:latin typeface="Times New Roman" panose="02020603050405020304" pitchFamily="18" charset="0"/>
                          <a:cs typeface="Times New Roman" panose="02020603050405020304" pitchFamily="18" charset="0"/>
                        </a:rPr>
                        <a:t> for petition tone. </a:t>
                      </a:r>
                    </a:p>
                    <a:p>
                      <a:pPr marL="285750" lvl="0" indent="-285750" algn="l">
                        <a:lnSpc>
                          <a:spcPct val="100000"/>
                        </a:lnSpc>
                        <a:spcBef>
                          <a:spcPts val="0"/>
                        </a:spcBef>
                        <a:spcAft>
                          <a:spcPts val="0"/>
                        </a:spcAft>
                        <a:buFont typeface="Arial"/>
                        <a:buChar char="•"/>
                      </a:pPr>
                      <a:r>
                        <a:rPr lang="en-US" sz="1500" b="1" dirty="0">
                          <a:latin typeface="Times New Roman" panose="02020603050405020304" pitchFamily="18" charset="0"/>
                          <a:cs typeface="Times New Roman" panose="02020603050405020304" pitchFamily="18" charset="0"/>
                        </a:rPr>
                        <a:t>Voice-to-Text</a:t>
                      </a:r>
                      <a:r>
                        <a:rPr lang="en-US" sz="1500" dirty="0">
                          <a:latin typeface="Times New Roman" panose="02020603050405020304" pitchFamily="18" charset="0"/>
                          <a:cs typeface="Times New Roman" panose="02020603050405020304" pitchFamily="18" charset="0"/>
                        </a:rPr>
                        <a:t> input integration. </a:t>
                      </a:r>
                    </a:p>
                    <a:p>
                      <a:pPr marL="285750" lvl="0" indent="-285750" algn="l">
                        <a:lnSpc>
                          <a:spcPct val="100000"/>
                        </a:lnSpc>
                        <a:spcBef>
                          <a:spcPts val="0"/>
                        </a:spcBef>
                        <a:spcAft>
                          <a:spcPts val="0"/>
                        </a:spcAft>
                        <a:buFont typeface="Arial"/>
                        <a:buChar char="•"/>
                      </a:pPr>
                      <a:r>
                        <a:rPr lang="en-US" sz="1500" b="1" dirty="0">
                          <a:latin typeface="Times New Roman" panose="02020603050405020304" pitchFamily="18" charset="0"/>
                          <a:cs typeface="Times New Roman" panose="02020603050405020304" pitchFamily="18" charset="0"/>
                        </a:rPr>
                        <a:t>GIS Mapping</a:t>
                      </a:r>
                      <a:r>
                        <a:rPr lang="en-US" sz="1500" dirty="0">
                          <a:latin typeface="Times New Roman" panose="02020603050405020304" pitchFamily="18" charset="0"/>
                          <a:cs typeface="Times New Roman" panose="02020603050405020304" pitchFamily="18" charset="0"/>
                        </a:rPr>
                        <a:t> of petitions for geographical analysis.</a:t>
                      </a:r>
                    </a:p>
                  </a:txBody>
                  <a:tcPr marL="54000" marR="54000" marT="36000" marB="36000"/>
                </a:tc>
                <a:extLst>
                  <a:ext uri="{0D108BD9-81ED-4DB2-BD59-A6C34878D82A}">
                    <a16:rowId xmlns:a16="http://schemas.microsoft.com/office/drawing/2014/main" val="10002"/>
                  </a:ext>
                </a:extLst>
              </a:tr>
              <a:tr h="868680">
                <a:tc>
                  <a:txBody>
                    <a:bodyPr/>
                    <a:lstStyle/>
                    <a:p>
                      <a:r>
                        <a:rPr sz="1500">
                          <a:latin typeface="Times New Roman" panose="02020603050405020304" pitchFamily="18" charset="0"/>
                          <a:cs typeface="Times New Roman" panose="02020603050405020304" pitchFamily="18" charset="0"/>
                        </a:rPr>
                        <a:t>Won’t‑Have (for now)</a:t>
                      </a:r>
                    </a:p>
                  </a:txBody>
                  <a:tcPr marL="54000" marR="54000" marT="36000" marB="36000"/>
                </a:tc>
                <a:tc>
                  <a:txBody>
                    <a:bodyPr/>
                    <a:lstStyle/>
                    <a:p>
                      <a:pPr marL="285750" lvl="0" indent="-285750" algn="l">
                        <a:lnSpc>
                          <a:spcPct val="100000"/>
                        </a:lnSpc>
                        <a:spcBef>
                          <a:spcPts val="0"/>
                        </a:spcBef>
                        <a:spcAft>
                          <a:spcPts val="0"/>
                        </a:spcAft>
                        <a:buFont typeface="Arial"/>
                        <a:buChar char="•"/>
                      </a:pPr>
                      <a:r>
                        <a:rPr lang="en-US" sz="1500" dirty="0">
                          <a:latin typeface="Times New Roman" panose="02020603050405020304" pitchFamily="18" charset="0"/>
                          <a:cs typeface="Times New Roman" panose="02020603050405020304" pitchFamily="18" charset="0"/>
                        </a:rPr>
                        <a:t>Integration with every legacy government IT system. </a:t>
                      </a:r>
                    </a:p>
                    <a:p>
                      <a:pPr marL="285750" lvl="0" indent="-285750" algn="l">
                        <a:lnSpc>
                          <a:spcPct val="100000"/>
                        </a:lnSpc>
                        <a:spcBef>
                          <a:spcPts val="0"/>
                        </a:spcBef>
                        <a:spcAft>
                          <a:spcPts val="0"/>
                        </a:spcAft>
                        <a:buFont typeface="Arial"/>
                        <a:buChar char="•"/>
                      </a:pPr>
                      <a:r>
                        <a:rPr lang="en-US" sz="1500" dirty="0">
                          <a:latin typeface="Times New Roman" panose="02020603050405020304" pitchFamily="18" charset="0"/>
                          <a:cs typeface="Times New Roman" panose="02020603050405020304" pitchFamily="18" charset="0"/>
                        </a:rPr>
                        <a:t>Blockchain-based document verification. </a:t>
                      </a:r>
                    </a:p>
                    <a:p>
                      <a:pPr marL="285750" lvl="0" indent="-285750" algn="l">
                        <a:lnSpc>
                          <a:spcPct val="100000"/>
                        </a:lnSpc>
                        <a:spcBef>
                          <a:spcPts val="0"/>
                        </a:spcBef>
                        <a:spcAft>
                          <a:spcPts val="0"/>
                        </a:spcAft>
                        <a:buFont typeface="Arial"/>
                        <a:buChar char="•"/>
                      </a:pPr>
                      <a:r>
                        <a:rPr lang="en-US" sz="1500" dirty="0">
                          <a:latin typeface="Times New Roman" panose="02020603050405020304" pitchFamily="18" charset="0"/>
                          <a:cs typeface="Times New Roman" panose="02020603050405020304" pitchFamily="18" charset="0"/>
                        </a:rPr>
                        <a:t>AR/VR visualization of grievance heatmaps.</a:t>
                      </a:r>
                    </a:p>
                  </a:txBody>
                  <a:tcPr marL="54000" marR="54000" marT="36000" marB="36000"/>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latin typeface="Times New Roman" panose="02020603050405020304" pitchFamily="18" charset="0"/>
                <a:cs typeface="Times New Roman" panose="02020603050405020304" pitchFamily="18" charset="0"/>
              </a:rPr>
              <a:t>Next Steps Toward PoC</a:t>
            </a:r>
          </a:p>
        </p:txBody>
      </p:sp>
      <p:graphicFrame>
        <p:nvGraphicFramePr>
          <p:cNvPr id="3" name="Table 2"/>
          <p:cNvGraphicFramePr>
            <a:graphicFrameLocks noGrp="1"/>
          </p:cNvGraphicFramePr>
          <p:nvPr>
            <p:extLst>
              <p:ext uri="{D42A27DB-BD31-4B8C-83A1-F6EECF244321}">
                <p14:modId xmlns:p14="http://schemas.microsoft.com/office/powerpoint/2010/main" val="1529203185"/>
              </p:ext>
            </p:extLst>
          </p:nvPr>
        </p:nvGraphicFramePr>
        <p:xfrm>
          <a:off x="457200" y="1389934"/>
          <a:ext cx="8229600" cy="5194198"/>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832156">
                <a:tc>
                  <a:txBody>
                    <a:bodyPr/>
                    <a:lstStyle/>
                    <a:p>
                      <a:r>
                        <a:rPr sz="1500" b="1" dirty="0">
                          <a:latin typeface="Times New Roman" panose="02020603050405020304" pitchFamily="18" charset="0"/>
                          <a:cs typeface="Times New Roman" panose="02020603050405020304" pitchFamily="18" charset="0"/>
                        </a:rPr>
                        <a:t>Step</a:t>
                      </a:r>
                    </a:p>
                  </a:txBody>
                  <a:tcPr marL="54000" marR="54000" marT="36000" marB="36000"/>
                </a:tc>
                <a:tc>
                  <a:txBody>
                    <a:bodyPr/>
                    <a:lstStyle/>
                    <a:p>
                      <a:r>
                        <a:rPr sz="1500" b="1">
                          <a:latin typeface="Times New Roman" panose="02020603050405020304" pitchFamily="18" charset="0"/>
                          <a:cs typeface="Times New Roman" panose="02020603050405020304" pitchFamily="18" charset="0"/>
                        </a:rPr>
                        <a:t>Owner</a:t>
                      </a:r>
                    </a:p>
                  </a:txBody>
                  <a:tcPr marL="54000" marR="54000" marT="36000" marB="36000"/>
                </a:tc>
                <a:tc>
                  <a:txBody>
                    <a:bodyPr/>
                    <a:lstStyle/>
                    <a:p>
                      <a:r>
                        <a:rPr sz="1500" b="1">
                          <a:latin typeface="Times New Roman" panose="02020603050405020304" pitchFamily="18" charset="0"/>
                          <a:cs typeface="Times New Roman" panose="02020603050405020304" pitchFamily="18" charset="0"/>
                        </a:rPr>
                        <a:t>Date</a:t>
                      </a:r>
                    </a:p>
                  </a:txBody>
                  <a:tcPr marL="54000" marR="54000" marT="36000" marB="36000"/>
                </a:tc>
                <a:tc>
                  <a:txBody>
                    <a:bodyPr/>
                    <a:lstStyle/>
                    <a:p>
                      <a:r>
                        <a:rPr sz="1500" b="1">
                          <a:latin typeface="Times New Roman" panose="02020603050405020304" pitchFamily="18" charset="0"/>
                          <a:cs typeface="Times New Roman" panose="02020603050405020304" pitchFamily="18" charset="0"/>
                        </a:rPr>
                        <a:t>Output / Validation</a:t>
                      </a:r>
                    </a:p>
                  </a:txBody>
                  <a:tcPr marL="54000" marR="54000" marT="36000" marB="36000"/>
                </a:tc>
                <a:extLst>
                  <a:ext uri="{0D108BD9-81ED-4DB2-BD59-A6C34878D82A}">
                    <a16:rowId xmlns:a16="http://schemas.microsoft.com/office/drawing/2014/main" val="10000"/>
                  </a:ext>
                </a:extLst>
              </a:tr>
              <a:tr h="1080321">
                <a:tc>
                  <a:txBody>
                    <a:bodyPr/>
                    <a:lstStyle/>
                    <a:p>
                      <a:pPr lvl="0">
                        <a:buNone/>
                      </a:pPr>
                      <a:r>
                        <a:rPr lang="en-US" sz="1500" b="1" i="0" u="none" strike="noStrike" noProof="0" dirty="0">
                          <a:latin typeface="Times New Roman" panose="02020603050405020304" pitchFamily="18" charset="0"/>
                          <a:cs typeface="Times New Roman" panose="02020603050405020304" pitchFamily="18" charset="0"/>
                        </a:rPr>
                        <a:t>Step 1:</a:t>
                      </a:r>
                      <a:r>
                        <a:rPr lang="en-US" sz="1500" b="0" i="0" u="none" strike="noStrike" noProof="0" dirty="0">
                          <a:latin typeface="Times New Roman" panose="02020603050405020304" pitchFamily="18" charset="0"/>
                          <a:cs typeface="Times New Roman" panose="02020603050405020304" pitchFamily="18" charset="0"/>
                        </a:rPr>
                        <a:t> </a:t>
                      </a:r>
                      <a:r>
                        <a:rPr lang="en-US" sz="1500" b="0" dirty="0">
                          <a:latin typeface="Times New Roman" panose="02020603050405020304" pitchFamily="18" charset="0"/>
                          <a:cs typeface="Times New Roman" panose="02020603050405020304" pitchFamily="18" charset="0"/>
                        </a:rPr>
                        <a:t>Collect and label </a:t>
                      </a:r>
                      <a:r>
                        <a:rPr lang="en-US" sz="1500" dirty="0">
                          <a:latin typeface="Times New Roman" panose="02020603050405020304" pitchFamily="18" charset="0"/>
                          <a:cs typeface="Times New Roman" panose="02020603050405020304" pitchFamily="18" charset="0"/>
                        </a:rPr>
                        <a:t>a dataset of 2000+ historical petitions.</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IN" sz="1500" dirty="0">
                          <a:latin typeface="Times New Roman" panose="02020603050405020304" pitchFamily="18" charset="0"/>
                          <a:cs typeface="Times New Roman" panose="02020603050405020304" pitchFamily="18" charset="0"/>
                        </a:rPr>
                        <a:t>Tharchana S</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US" sz="1500">
                          <a:latin typeface="Times New Roman" panose="02020603050405020304" pitchFamily="18" charset="0"/>
                          <a:cs typeface="Times New Roman" panose="02020603050405020304" pitchFamily="18" charset="0"/>
                        </a:rPr>
                        <a:t>10 Oct </a:t>
                      </a:r>
                      <a:endParaRPr sz="1500">
                        <a:latin typeface="Times New Roman" panose="02020603050405020304" pitchFamily="18" charset="0"/>
                        <a:cs typeface="Times New Roman" panose="02020603050405020304" pitchFamily="18" charset="0"/>
                      </a:endParaRPr>
                    </a:p>
                  </a:txBody>
                  <a:tcPr marL="54000" marR="54000" marT="36000" marB="36000"/>
                </a:tc>
                <a:tc>
                  <a:txBody>
                    <a:bodyPr/>
                    <a:lstStyle/>
                    <a:p>
                      <a:pPr lvl="0" algn="l">
                        <a:lnSpc>
                          <a:spcPct val="100000"/>
                        </a:lnSpc>
                        <a:spcBef>
                          <a:spcPts val="0"/>
                        </a:spcBef>
                        <a:spcAft>
                          <a:spcPts val="0"/>
                        </a:spcAft>
                        <a:buNone/>
                      </a:pPr>
                      <a:r>
                        <a:rPr lang="en-US" sz="1500" dirty="0">
                          <a:latin typeface="Times New Roman" panose="02020603050405020304" pitchFamily="18" charset="0"/>
                          <a:cs typeface="Times New Roman" panose="02020603050405020304" pitchFamily="18" charset="0"/>
                        </a:rPr>
                        <a:t>Dataset compiled and cleaned for NLP training.</a:t>
                      </a:r>
                      <a:endParaRPr sz="15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1"/>
                  </a:ext>
                </a:extLst>
              </a:tr>
              <a:tr h="1080321">
                <a:tc>
                  <a:txBody>
                    <a:bodyPr/>
                    <a:lstStyle/>
                    <a:p>
                      <a:pPr lvl="0">
                        <a:buNone/>
                      </a:pPr>
                      <a:r>
                        <a:rPr lang="en-US" sz="1500" b="1" i="0" u="none" strike="noStrike" noProof="0" dirty="0">
                          <a:latin typeface="Times New Roman" panose="02020603050405020304" pitchFamily="18" charset="0"/>
                          <a:cs typeface="Times New Roman" panose="02020603050405020304" pitchFamily="18" charset="0"/>
                        </a:rPr>
                        <a:t>Step 2:</a:t>
                      </a:r>
                      <a:r>
                        <a:rPr lang="en-US" sz="1500" b="0" i="0" u="none" strike="noStrike" noProof="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Develop and train the </a:t>
                      </a:r>
                      <a:r>
                        <a:rPr lang="en-US" sz="1500" b="0" dirty="0">
                          <a:latin typeface="Times New Roman" panose="02020603050405020304" pitchFamily="18" charset="0"/>
                          <a:cs typeface="Times New Roman" panose="02020603050405020304" pitchFamily="18" charset="0"/>
                        </a:rPr>
                        <a:t>NLP Classification </a:t>
                      </a:r>
                      <a:r>
                        <a:rPr lang="en-US" sz="1500" dirty="0">
                          <a:latin typeface="Times New Roman" panose="02020603050405020304" pitchFamily="18" charset="0"/>
                          <a:cs typeface="Times New Roman" panose="02020603050405020304" pitchFamily="18" charset="0"/>
                        </a:rPr>
                        <a:t>model prototype (Python/Hugging Face).</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IN" sz="1500" dirty="0" err="1">
                          <a:latin typeface="Times New Roman" panose="02020603050405020304" pitchFamily="18" charset="0"/>
                          <a:cs typeface="Times New Roman" panose="02020603050405020304" pitchFamily="18" charset="0"/>
                        </a:rPr>
                        <a:t>Srinivetha</a:t>
                      </a:r>
                      <a:r>
                        <a:rPr lang="en-IN" sz="1500" dirty="0">
                          <a:latin typeface="Times New Roman" panose="02020603050405020304" pitchFamily="18" charset="0"/>
                          <a:cs typeface="Times New Roman" panose="02020603050405020304" pitchFamily="18" charset="0"/>
                        </a:rPr>
                        <a:t> S G</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r>
                        <a:rPr lang="en-US" sz="1500">
                          <a:latin typeface="Times New Roman" panose="02020603050405020304" pitchFamily="18" charset="0"/>
                          <a:cs typeface="Times New Roman" panose="02020603050405020304" pitchFamily="18" charset="0"/>
                        </a:rPr>
                        <a:t>18 Oct</a:t>
                      </a:r>
                      <a:endParaRPr sz="1500">
                        <a:latin typeface="Times New Roman" panose="02020603050405020304" pitchFamily="18" charset="0"/>
                        <a:cs typeface="Times New Roman" panose="02020603050405020304" pitchFamily="18" charset="0"/>
                      </a:endParaRPr>
                    </a:p>
                  </a:txBody>
                  <a:tcPr marL="54000" marR="54000" marT="36000" marB="36000"/>
                </a:tc>
                <a:tc>
                  <a:txBody>
                    <a:bodyPr/>
                    <a:lstStyle/>
                    <a:p>
                      <a:pPr lvl="0" algn="l">
                        <a:lnSpc>
                          <a:spcPct val="100000"/>
                        </a:lnSpc>
                        <a:spcBef>
                          <a:spcPts val="0"/>
                        </a:spcBef>
                        <a:spcAft>
                          <a:spcPts val="0"/>
                        </a:spcAft>
                        <a:buNone/>
                      </a:pPr>
                      <a:r>
                        <a:rPr lang="en-US" sz="1500" b="0" dirty="0">
                          <a:latin typeface="Times New Roman" panose="02020603050405020304" pitchFamily="18" charset="0"/>
                          <a:cs typeface="Times New Roman" panose="02020603050405020304" pitchFamily="18" charset="0"/>
                        </a:rPr>
                        <a:t>Model validated with ≥85% accuracy on categorization.</a:t>
                      </a:r>
                      <a:endParaRPr sz="1500" b="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2"/>
                  </a:ext>
                </a:extLst>
              </a:tr>
              <a:tr h="1080321">
                <a:tc>
                  <a:txBody>
                    <a:bodyPr/>
                    <a:lstStyle/>
                    <a:p>
                      <a:pPr lvl="0">
                        <a:buNone/>
                      </a:pPr>
                      <a:r>
                        <a:rPr lang="en-US" sz="1500" b="1" i="0" u="none" strike="noStrike" noProof="0" dirty="0">
                          <a:latin typeface="Times New Roman" panose="02020603050405020304" pitchFamily="18" charset="0"/>
                          <a:cs typeface="Times New Roman" panose="02020603050405020304" pitchFamily="18" charset="0"/>
                        </a:rPr>
                        <a:t>Step 3:</a:t>
                      </a:r>
                      <a:r>
                        <a:rPr lang="en-US" sz="1500" b="0" i="0" u="none" strike="noStrike" noProof="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Develop the </a:t>
                      </a:r>
                      <a:r>
                        <a:rPr lang="en-US" sz="1500" b="0" dirty="0">
                          <a:latin typeface="Times New Roman" panose="02020603050405020304" pitchFamily="18" charset="0"/>
                          <a:cs typeface="Times New Roman" panose="02020603050405020304" pitchFamily="18" charset="0"/>
                        </a:rPr>
                        <a:t>Dashboard &amp; Tracking </a:t>
                      </a:r>
                      <a:r>
                        <a:rPr lang="en-US" sz="1500" dirty="0">
                          <a:latin typeface="Times New Roman" panose="02020603050405020304" pitchFamily="18" charset="0"/>
                          <a:cs typeface="Times New Roman" panose="02020603050405020304" pitchFamily="18" charset="0"/>
                        </a:rPr>
                        <a:t>workflow prototype</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IN" sz="1500" dirty="0">
                          <a:latin typeface="Times New Roman" panose="02020603050405020304" pitchFamily="18" charset="0"/>
                          <a:cs typeface="Times New Roman" panose="02020603050405020304" pitchFamily="18" charset="0"/>
                        </a:rPr>
                        <a:t>Kamalesh M</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500">
                          <a:latin typeface="Times New Roman" panose="02020603050405020304" pitchFamily="18" charset="0"/>
                          <a:cs typeface="Times New Roman" panose="02020603050405020304" pitchFamily="18" charset="0"/>
                        </a:rPr>
                        <a:t>25 Oct</a:t>
                      </a:r>
                      <a:endParaRPr sz="150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500" dirty="0">
                          <a:latin typeface="Times New Roman" panose="02020603050405020304" pitchFamily="18" charset="0"/>
                          <a:cs typeface="Times New Roman" panose="02020603050405020304" pitchFamily="18" charset="0"/>
                        </a:rPr>
                        <a:t>Functional dashboard displaying petition intake, classification, and status changes.</a:t>
                      </a:r>
                      <a:endParaRPr sz="15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3"/>
                  </a:ext>
                </a:extLst>
              </a:tr>
              <a:tr h="829811">
                <a:tc>
                  <a:txBody>
                    <a:bodyPr/>
                    <a:lstStyle/>
                    <a:p>
                      <a:pPr lvl="0">
                        <a:buNone/>
                      </a:pPr>
                      <a:r>
                        <a:rPr lang="en-US" sz="1500" b="1" i="0" u="none" strike="noStrike" noProof="0" dirty="0">
                          <a:latin typeface="Times New Roman" panose="02020603050405020304" pitchFamily="18" charset="0"/>
                          <a:cs typeface="Times New Roman" panose="02020603050405020304" pitchFamily="18" charset="0"/>
                        </a:rPr>
                        <a:t>Step 4:</a:t>
                      </a:r>
                      <a:r>
                        <a:rPr lang="en-US" sz="1500" b="0" i="0" u="none" strike="noStrike" noProof="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Integrate the AI model and build the </a:t>
                      </a:r>
                      <a:r>
                        <a:rPr lang="en-US" sz="1500" b="0" dirty="0">
                          <a:latin typeface="Times New Roman" panose="02020603050405020304" pitchFamily="18" charset="0"/>
                          <a:cs typeface="Times New Roman" panose="02020603050405020304" pitchFamily="18" charset="0"/>
                        </a:rPr>
                        <a:t>SMS/Email notification </a:t>
                      </a:r>
                      <a:r>
                        <a:rPr lang="en-US" sz="1500" dirty="0">
                          <a:latin typeface="Times New Roman" panose="02020603050405020304" pitchFamily="18" charset="0"/>
                          <a:cs typeface="Times New Roman" panose="02020603050405020304" pitchFamily="18" charset="0"/>
                        </a:rPr>
                        <a:t>system.</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IN" sz="1500" dirty="0">
                          <a:latin typeface="Times New Roman" panose="02020603050405020304" pitchFamily="18" charset="0"/>
                          <a:cs typeface="Times New Roman" panose="02020603050405020304" pitchFamily="18" charset="0"/>
                        </a:rPr>
                        <a:t>Sanjana S</a:t>
                      </a:r>
                    </a:p>
                    <a:p>
                      <a:pPr lvl="0">
                        <a:buNone/>
                      </a:pPr>
                      <a:r>
                        <a:rPr lang="en-IN" sz="1500" dirty="0">
                          <a:latin typeface="Times New Roman" panose="02020603050405020304" pitchFamily="18" charset="0"/>
                          <a:cs typeface="Times New Roman" panose="02020603050405020304" pitchFamily="18" charset="0"/>
                        </a:rPr>
                        <a:t>Sarwina M</a:t>
                      </a:r>
                      <a:endParaRPr sz="1500" dirty="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500">
                          <a:latin typeface="Times New Roman" panose="02020603050405020304" pitchFamily="18" charset="0"/>
                          <a:cs typeface="Times New Roman" panose="02020603050405020304" pitchFamily="18" charset="0"/>
                        </a:rPr>
                        <a:t>01 Nov</a:t>
                      </a:r>
                      <a:endParaRPr sz="1500">
                        <a:latin typeface="Times New Roman" panose="02020603050405020304" pitchFamily="18" charset="0"/>
                        <a:cs typeface="Times New Roman" panose="02020603050405020304" pitchFamily="18" charset="0"/>
                      </a:endParaRPr>
                    </a:p>
                  </a:txBody>
                  <a:tcPr marL="54000" marR="54000" marT="36000" marB="36000"/>
                </a:tc>
                <a:tc>
                  <a:txBody>
                    <a:bodyPr/>
                    <a:lstStyle/>
                    <a:p>
                      <a:pPr lvl="0">
                        <a:buNone/>
                      </a:pPr>
                      <a:r>
                        <a:rPr lang="en-US" sz="1500" dirty="0">
                          <a:latin typeface="Times New Roman" panose="02020603050405020304" pitchFamily="18" charset="0"/>
                          <a:cs typeface="Times New Roman" panose="02020603050405020304" pitchFamily="18" charset="0"/>
                        </a:rPr>
                        <a:t>End-to-end prototype: submit a petition → classify → track → notify petitioner.</a:t>
                      </a:r>
                      <a:endParaRPr sz="1500" dirty="0">
                        <a:latin typeface="Times New Roman" panose="02020603050405020304" pitchFamily="18" charset="0"/>
                        <a:cs typeface="Times New Roman" panose="02020603050405020304" pitchFamily="18" charset="0"/>
                      </a:endParaRPr>
                    </a:p>
                  </a:txBody>
                  <a:tcPr marL="54000" marR="54000" marT="36000" marB="36000"/>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vert="horz" lIns="91440" tIns="45720" rIns="91440" bIns="45720" rtlCol="0" anchor="t">
            <a:normAutofit fontScale="62500" lnSpcReduction="20000"/>
          </a:bodyPr>
          <a:lstStyle/>
          <a:p>
            <a:pPr algn="ctr"/>
            <a:r>
              <a:rPr lang="en-IN" sz="2600" dirty="0">
                <a:latin typeface="Times New Roman" panose="02020603050405020304" pitchFamily="18" charset="0"/>
                <a:cs typeface="Times New Roman" panose="02020603050405020304" pitchFamily="18" charset="0"/>
              </a:rPr>
              <a:t>Malik et al., 2022, Semantic Segmentation of Legal Documents via Rhetorical </a:t>
            </a:r>
            <a:r>
              <a:rPr lang="en-IN" sz="2600" dirty="0" err="1">
                <a:latin typeface="Times New Roman" panose="02020603050405020304" pitchFamily="18" charset="0"/>
                <a:cs typeface="Times New Roman" panose="02020603050405020304" pitchFamily="18" charset="0"/>
              </a:rPr>
              <a:t>Roles,V</a:t>
            </a:r>
            <a:r>
              <a:rPr lang="en-IN" sz="2600" dirty="0">
                <a:latin typeface="Times New Roman" panose="02020603050405020304" pitchFamily="18" charset="0"/>
                <a:cs typeface="Times New Roman" panose="02020603050405020304" pitchFamily="18" charset="0"/>
              </a:rPr>
              <a:t>. Malik, R. Sanjay, S. K. Guha, A. Hazarika, S. K. Nigam, A. Bhattacharya, A. Modi</a:t>
            </a:r>
          </a:p>
          <a:p>
            <a:pPr marL="0" indent="0" algn="ctr">
              <a:buNone/>
            </a:pPr>
            <a:r>
              <a:rPr lang="en-IN" sz="2600" dirty="0">
                <a:latin typeface="Times New Roman" panose="02020603050405020304" pitchFamily="18" charset="0"/>
                <a:cs typeface="Times New Roman" panose="02020603050405020304" pitchFamily="18" charset="0"/>
                <a:hlinkClick r:id="rId2"/>
              </a:rPr>
              <a:t>https://aclanthology.org/2022.nllp-1.13</a:t>
            </a:r>
            <a:endParaRPr lang="en-IN" sz="2600" dirty="0">
              <a:latin typeface="Times New Roman" panose="02020603050405020304" pitchFamily="18" charset="0"/>
              <a:cs typeface="Times New Roman" panose="02020603050405020304" pitchFamily="18" charset="0"/>
            </a:endParaRPr>
          </a:p>
          <a:p>
            <a:endParaRPr lang="en-IN" sz="2600" dirty="0">
              <a:latin typeface="Times New Roman" panose="02020603050405020304" pitchFamily="18" charset="0"/>
              <a:cs typeface="Times New Roman" panose="02020603050405020304" pitchFamily="18" charset="0"/>
              <a:hlinkClick r:id="rId2"/>
            </a:endParaRPr>
          </a:p>
          <a:p>
            <a:pPr marL="0" indent="0" algn="ctr">
              <a:buNone/>
              <a:defRPr sz="1800"/>
            </a:pPr>
            <a:endParaRPr lang="en-US" sz="2600" dirty="0">
              <a:latin typeface="Times New Roman" panose="02020603050405020304" pitchFamily="18" charset="0"/>
              <a:cs typeface="Times New Roman" panose="02020603050405020304" pitchFamily="18" charset="0"/>
            </a:endParaRPr>
          </a:p>
          <a:p>
            <a:pPr marL="457200" lvl="1" indent="0" algn="ctr">
              <a:buNone/>
              <a:defRPr sz="1800"/>
            </a:pPr>
            <a:r>
              <a:rPr lang="en-US" sz="2600" dirty="0">
                <a:latin typeface="Times New Roman" panose="02020603050405020304" pitchFamily="18" charset="0"/>
                <a:cs typeface="Times New Roman" panose="02020603050405020304" pitchFamily="18" charset="0"/>
              </a:rPr>
              <a:t>[2] D. E. Miller and F. G. Johnson, "Improving Accountability and Transparency in Public Services using Workflow Automation," </a:t>
            </a:r>
            <a:r>
              <a:rPr lang="en-US" sz="2600" i="1" dirty="0">
                <a:latin typeface="Times New Roman" panose="02020603050405020304" pitchFamily="18" charset="0"/>
                <a:cs typeface="Times New Roman" panose="02020603050405020304" pitchFamily="18" charset="0"/>
              </a:rPr>
              <a:t>Journal of Public Administration Research and Theory</a:t>
            </a:r>
            <a:r>
              <a:rPr lang="en-US" sz="2600" dirty="0">
                <a:latin typeface="Times New Roman" panose="02020603050405020304" pitchFamily="18" charset="0"/>
                <a:cs typeface="Times New Roman" panose="02020603050405020304" pitchFamily="18" charset="0"/>
              </a:rPr>
              <a:t>, vol. 30, no. 2, pp. 201-215, 2020.</a:t>
            </a:r>
          </a:p>
          <a:p>
            <a:pPr marL="0" indent="0" algn="ctr">
              <a:buNone/>
              <a:defRPr sz="1800"/>
            </a:pPr>
            <a:r>
              <a:rPr lang="en-US" sz="2600" u="sng" dirty="0">
                <a:latin typeface="Times New Roman" panose="02020603050405020304" pitchFamily="18" charset="0"/>
                <a:cs typeface="Times New Roman" panose="02020603050405020304" pitchFamily="18" charset="0"/>
                <a:hlinkClick r:id="rId3"/>
              </a:rPr>
              <a:t>https://pubsonline.informs.org/doi/abs/10.1287/orsc.2022.1651</a:t>
            </a:r>
            <a:endParaRPr lang="en-US" sz="2600" u="sng" dirty="0">
              <a:latin typeface="Times New Roman" panose="02020603050405020304" pitchFamily="18" charset="0"/>
              <a:cs typeface="Times New Roman" panose="02020603050405020304" pitchFamily="18" charset="0"/>
            </a:endParaRPr>
          </a:p>
          <a:p>
            <a:pPr marL="0" indent="0" algn="ctr">
              <a:buNone/>
              <a:defRPr sz="1800"/>
            </a:pPr>
            <a:endParaRPr lang="en-US" sz="2600" b="1" u="sng" dirty="0">
              <a:latin typeface="Times New Roman" panose="02020603050405020304" pitchFamily="18" charset="0"/>
              <a:cs typeface="Times New Roman" panose="02020603050405020304" pitchFamily="18" charset="0"/>
            </a:endParaRPr>
          </a:p>
          <a:p>
            <a:pPr algn="ctr">
              <a:defRPr sz="1800"/>
            </a:pPr>
            <a:r>
              <a:rPr lang="en-US" sz="2600" dirty="0">
                <a:latin typeface="Times New Roman" panose="02020603050405020304" pitchFamily="18" charset="0"/>
                <a:cs typeface="Times New Roman" panose="02020603050405020304" pitchFamily="18" charset="0"/>
              </a:rPr>
              <a:t>[3] Jiang, Y., Pang, P. C.-I., Wong, D., &amp; Kan, H. Y. (2023). Natural Language Processing Adoption in Governments and Future Research Directions: A Systematic Review. </a:t>
            </a:r>
            <a:r>
              <a:rPr lang="en-US" sz="2600" i="1" dirty="0">
                <a:latin typeface="Times New Roman" panose="02020603050405020304" pitchFamily="18" charset="0"/>
                <a:cs typeface="Times New Roman" panose="02020603050405020304" pitchFamily="18" charset="0"/>
              </a:rPr>
              <a:t>Applied Sciences</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13</a:t>
            </a:r>
            <a:r>
              <a:rPr lang="en-US" sz="2600" dirty="0">
                <a:latin typeface="Times New Roman" panose="02020603050405020304" pitchFamily="18" charset="0"/>
                <a:cs typeface="Times New Roman" panose="02020603050405020304" pitchFamily="18" charset="0"/>
              </a:rPr>
              <a:t>(22), 12346.</a:t>
            </a:r>
          </a:p>
          <a:p>
            <a:pPr marL="0" indent="0" algn="ctr">
              <a:buNone/>
              <a:defRPr sz="1800"/>
            </a:pPr>
            <a:r>
              <a:rPr lang="en-US" sz="2600" u="sng" dirty="0">
                <a:solidFill>
                  <a:srgbClr val="7030A0"/>
                </a:solidFill>
                <a:latin typeface="Times New Roman" panose="02020603050405020304" pitchFamily="18" charset="0"/>
                <a:cs typeface="Times New Roman" panose="02020603050405020304" pitchFamily="18" charset="0"/>
              </a:rPr>
              <a:t>https://www.mdpi.com/2076-3417/13/22/12346</a:t>
            </a:r>
          </a:p>
          <a:p>
            <a:pPr algn="ctr">
              <a:defRPr sz="1800"/>
            </a:pPr>
            <a:endParaRPr lang="en-US" sz="2600" dirty="0">
              <a:latin typeface="Times New Roman" panose="02020603050405020304" pitchFamily="18" charset="0"/>
              <a:cs typeface="Times New Roman" panose="02020603050405020304" pitchFamily="18" charset="0"/>
            </a:endParaRPr>
          </a:p>
          <a:p>
            <a:pPr marL="0" indent="0" algn="ctr">
              <a:buNone/>
              <a:defRPr sz="1800"/>
            </a:pPr>
            <a:r>
              <a:rPr lang="en-US" sz="2600" dirty="0">
                <a:latin typeface="Times New Roman" panose="02020603050405020304" pitchFamily="18" charset="0"/>
                <a:cs typeface="Times New Roman" panose="02020603050405020304" pitchFamily="18" charset="0"/>
              </a:rPr>
              <a:t>	[4]Department of Administrative Reforms and Public Grievances (DARPG),      	Government of India. (n.d.). CPGRAMS Public Grievance Data and Annual 	Reports. Retrieved October 5, 2025, </a:t>
            </a:r>
          </a:p>
          <a:p>
            <a:pPr marL="0" indent="0" algn="ctr">
              <a:buNone/>
              <a:defRPr sz="1800"/>
            </a:pPr>
            <a:r>
              <a:rPr lang="en-US" sz="2600" dirty="0">
                <a:latin typeface="Times New Roman" panose="02020603050405020304" pitchFamily="18" charset="0"/>
                <a:cs typeface="Times New Roman" panose="02020603050405020304" pitchFamily="18" charset="0"/>
                <a:hlinkClick r:id="rId4"/>
              </a:rPr>
              <a:t>https://pgportal.gov.in/</a:t>
            </a:r>
            <a:endParaRPr lang="en-US" sz="2600" dirty="0">
              <a:latin typeface="Times New Roman" panose="02020603050405020304" pitchFamily="18" charset="0"/>
              <a:ea typeface="+mn-lt"/>
              <a:cs typeface="Times New Roman" panose="02020603050405020304" pitchFamily="18" charset="0"/>
            </a:endParaRPr>
          </a:p>
          <a:p>
            <a:pPr>
              <a:defRPr sz="1800"/>
            </a:pPr>
            <a:endParaRPr lang="en-US" dirty="0">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AD9324C02AF684081B0638F841F77A7" ma:contentTypeVersion="7" ma:contentTypeDescription="Create a new document." ma:contentTypeScope="" ma:versionID="34167c692540df5cdfea6741fa766840">
  <xsd:schema xmlns:xsd="http://www.w3.org/2001/XMLSchema" xmlns:xs="http://www.w3.org/2001/XMLSchema" xmlns:p="http://schemas.microsoft.com/office/2006/metadata/properties" xmlns:ns2="8f4bcbf8-e4fe-49fe-9064-aa6724e1aff7" targetNamespace="http://schemas.microsoft.com/office/2006/metadata/properties" ma:root="true" ma:fieldsID="94b216459a23529f925433b6a1c2b6ee" ns2:_="">
    <xsd:import namespace="8f4bcbf8-e4fe-49fe-9064-aa6724e1af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4bcbf8-e4fe-49fe-9064-aa6724e1af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F5B329-C347-491D-93CD-609F710B459C}">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21AA1407-9A36-4309-9A97-EFA165BFA4D3}">
  <ds:schemaRefs>
    <ds:schemaRef ds:uri="http://schemas.microsoft.com/sharepoint/v3/contenttype/forms"/>
  </ds:schemaRefs>
</ds:datastoreItem>
</file>

<file path=customXml/itemProps3.xml><?xml version="1.0" encoding="utf-8"?>
<ds:datastoreItem xmlns:ds="http://schemas.openxmlformats.org/officeDocument/2006/customXml" ds:itemID="{6CD5099C-6772-4A46-BB7F-6E9FB00AF9C0}">
  <ds:schemaRefs>
    <ds:schemaRef ds:uri="8f4bcbf8-e4fe-49fe-9064-aa6724e1aff7"/>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TotalTime>
  <Words>1806</Words>
  <Application>Microsoft Office PowerPoint</Application>
  <PresentationFormat>On-screen Show (4:3)</PresentationFormat>
  <Paragraphs>198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SoI Ideation Stage Template</vt:lpstr>
      <vt:lpstr>Problem &amp; End‑User Recap</vt:lpstr>
      <vt:lpstr>User Personal</vt:lpstr>
      <vt:lpstr>Storyboard </vt:lpstr>
      <vt:lpstr>Value Proposition Canvas </vt:lpstr>
      <vt:lpstr>Idea 1 – [NLP Classification Engine]</vt:lpstr>
      <vt:lpstr>Idea 2 – [Automated Tracking &amp; Reminder System]</vt:lpstr>
      <vt:lpstr>Idea 3 – [Repetition &amp; Systemic Grievance Identifier]</vt:lpstr>
      <vt:lpstr>Idea Evaluation</vt:lpstr>
      <vt:lpstr>Selected Idea &amp; Justification</vt:lpstr>
      <vt:lpstr>Solution Features &amp; Prioritization (MoSCoW)</vt:lpstr>
      <vt:lpstr>Next Steps Toward PoC</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 Ideation Stage Template</dc:title>
  <dc:subject/>
  <dc:creator>Thiruvaazhi Uloli</dc:creator>
  <cp:keywords/>
  <dc:description>generated using python-pptx</dc:description>
  <cp:lastModifiedBy>sarwinamuralikrishnan@outlook.com</cp:lastModifiedBy>
  <cp:revision>5</cp:revision>
  <dcterms:created xsi:type="dcterms:W3CDTF">2013-01-27T09:14:16Z</dcterms:created>
  <dcterms:modified xsi:type="dcterms:W3CDTF">2025-10-05T16:13:34Z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0x0101004AD9324C02AF684081B0638F841F77A7</vt:lpwstr>
  </property>
</Properties>
</file>