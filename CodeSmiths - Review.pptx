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33" autoAdjust="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6B968-9307-4FCD-B53D-E94D757EBA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AB76E-7194-47E7-A9B6-B48A91EE7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255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2.nllp-1.13" TargetMode="External"/><Relationship Id="rId2" Type="http://schemas.openxmlformats.org/officeDocument/2006/relationships/hyperlink" Target="https://arxiv.org/abs/2010.12533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502.05836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477" y="733424"/>
            <a:ext cx="7772400" cy="1470025"/>
          </a:xfrm>
        </p:spPr>
        <p:txBody>
          <a:bodyPr>
            <a:normAutofit/>
          </a:bodyPr>
          <a:lstStyle/>
          <a:p>
            <a:r>
              <a:rPr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Student Project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4065" y="2635864"/>
            <a:ext cx="7425812" cy="3271582"/>
          </a:xfrm>
        </p:spPr>
        <p:txBody>
          <a:bodyPr>
            <a:normAutofit fontScale="77500" lnSpcReduction="20000"/>
          </a:bodyPr>
          <a:lstStyle/>
          <a:p>
            <a:r>
              <a:rPr lang="en-IN" sz="29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Petition Response Engine</a:t>
            </a:r>
          </a:p>
          <a:p>
            <a:endParaRPr lang="en-IN" sz="2700" b="1" i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			: 	</a:t>
            </a:r>
            <a:r>
              <a:rPr lang="en-IN" sz="27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CodeSmiths</a:t>
            </a:r>
            <a:r>
              <a:rPr lang="en-IN" sz="2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algn="just"/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Sarwina M</a:t>
            </a:r>
            <a:endParaRPr sz="2700" b="0" i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IN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Sanjana S , </a:t>
            </a:r>
            <a:r>
              <a:rPr lang="en-IN" sz="2700" b="0" i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Srinivetha</a:t>
            </a:r>
            <a:r>
              <a:rPr lang="en-IN"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G , 					                    Tharchana S , Kamalesh M</a:t>
            </a:r>
            <a:endParaRPr sz="2700" b="0" i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sz="2700" b="1" i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Mentor</a:t>
            </a:r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Mathew Valan D L </a:t>
            </a:r>
          </a:p>
          <a:p>
            <a:pPr lvl="2" algn="just"/>
            <a:r>
              <a:rPr lang="en-IN" sz="2700" b="1" i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Vertical		:     </a:t>
            </a:r>
            <a:r>
              <a:rPr lang="en-IN" sz="2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IN"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algn="just"/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Cohort/Batch</a:t>
            </a:r>
            <a:r>
              <a:rPr lang="en-IN"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7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2024-2028</a:t>
            </a:r>
            <a:r>
              <a:rPr sz="27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End User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16" y="1285568"/>
            <a:ext cx="8436078" cy="5070782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/ Customer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filing grievances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Govt. officials handling petitions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 Trigger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volume of petitions daily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sorting → delays, misrouting, backlog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Govt. reports of delays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on pending grievances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issues observed in portals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 time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errors/misclassifications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petitions auto-merged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updates to citizens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17" y="438699"/>
            <a:ext cx="7910052" cy="963561"/>
          </a:xfrm>
        </p:spPr>
        <p:txBody>
          <a:bodyPr>
            <a:normAutofit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71E423-8719-66DC-05C8-EA810CE97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1" y="1638234"/>
            <a:ext cx="8096864" cy="4328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Petitions are manually read, categorized, and forwarded, making the process slow and error-prone.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Misrouting or overlooking petitions is common due to manual handling.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petitions every week create heavy backlogs.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or similar grievances are treated as separate cases, adding to workload.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Citizens rarely get timely status updates, reducing transparency and trust.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communication leaves petitioners feeling ignored or dissatisfied.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Officials struggle to track progress across multiple departments.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proper monitoring weakens accountability and oversight.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Urgent or important cases often fail to get prioritized.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Inefficiency and delays reduce citizen satisfaction and public confidence.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departments face resource strain, lowering overall productivity.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ᵜ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analysis makes it hard to identify patterns in common grievances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60C6E-D6CD-3376-825C-2F694162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3" y="177942"/>
            <a:ext cx="6618820" cy="6680058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2244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316"/>
            <a:ext cx="8146026" cy="757749"/>
          </a:xfrm>
        </p:spPr>
        <p:txBody>
          <a:bodyPr>
            <a:normAutofit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(Research)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1074"/>
              </p:ext>
            </p:extLst>
          </p:nvPr>
        </p:nvGraphicFramePr>
        <p:xfrm>
          <a:off x="235974" y="845575"/>
          <a:ext cx="8809703" cy="586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021">
                <a:tc>
                  <a:txBody>
                    <a:bodyPr/>
                    <a:lstStyle/>
                    <a:p>
                      <a:r>
                        <a:rPr b="1"/>
                        <a:t>Source (APA/IEEE)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Key Insight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Gap Relevant to Our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621">
                <a:tc>
                  <a:txBody>
                    <a:bodyPr/>
                    <a:lstStyle/>
                    <a:p>
                      <a:r>
                        <a:rPr lang="en-IN" sz="1300" dirty="0"/>
                        <a:t>N</a:t>
                      </a:r>
                      <a:r>
                        <a:rPr lang="en-US" sz="1300" b="1" dirty="0" err="1"/>
                        <a:t>oguti</a:t>
                      </a:r>
                      <a:r>
                        <a:rPr lang="en-US" sz="1300" b="1" dirty="0"/>
                        <a:t>, M. Y., </a:t>
                      </a:r>
                      <a:r>
                        <a:rPr lang="en-US" sz="1300" b="1" dirty="0" err="1"/>
                        <a:t>Vellasques</a:t>
                      </a:r>
                      <a:r>
                        <a:rPr lang="en-US" sz="1300" b="1" dirty="0"/>
                        <a:t>, E., &amp; Oliveira, L. S.</a:t>
                      </a:r>
                      <a:r>
                        <a:rPr lang="en-US" sz="1300" dirty="0"/>
                        <a:t>. </a:t>
                      </a:r>
                      <a:r>
                        <a:rPr lang="en-US" sz="1300" i="1" dirty="0"/>
                        <a:t>Legal document classification: An application to law area prediction of petitions to Public Prosecution Service</a:t>
                      </a:r>
                      <a:r>
                        <a:rPr lang="en-US" sz="1300" dirty="0"/>
                        <a:t>.</a:t>
                      </a:r>
                      <a:endParaRPr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2020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Classified petitions using Word2Vec + LSTM (~90% accuracy).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urgency detection, reminders, or petitioner updates.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755">
                <a:tc>
                  <a:txBody>
                    <a:bodyPr/>
                    <a:lstStyle/>
                    <a:p>
                      <a:r>
                        <a:rPr lang="en-IN" sz="1300" b="1" dirty="0"/>
                        <a:t>Malik, V., Sanjay, R., Guha, S. K., Hazarika, A., Nigam, S., Bhattacharya, A., &amp; Modi, S.</a:t>
                      </a:r>
                      <a:r>
                        <a:rPr lang="en-IN" sz="1300" dirty="0"/>
                        <a:t>. </a:t>
                      </a:r>
                      <a:r>
                        <a:rPr lang="en-IN" sz="1300" i="1" dirty="0"/>
                        <a:t>Semantic segmentation of legal documents via rhetorical roles</a:t>
                      </a:r>
                      <a:r>
                        <a:rPr lang="en-IN" sz="1300" dirty="0"/>
                        <a:t>.</a:t>
                      </a:r>
                      <a:endParaRPr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2021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Segmented legal documents into rhetorical roles (facts, rulings, statutes).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 applied to grievance petitions or urgency detection.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722">
                <a:tc>
                  <a:txBody>
                    <a:bodyPr/>
                    <a:lstStyle/>
                    <a:p>
                      <a:r>
                        <a:rPr lang="en-IN" sz="1300" b="1" dirty="0"/>
                        <a:t>Mahoney, C. J., Zhang, J., Huber-Fliflet, N., Gronvall, P., &amp; Zhao, H.</a:t>
                      </a:r>
                      <a:r>
                        <a:rPr lang="en-IN" sz="1300" dirty="0"/>
                        <a:t>. </a:t>
                      </a:r>
                      <a:r>
                        <a:rPr lang="en-IN" sz="1300" i="1" dirty="0"/>
                        <a:t>A framework for explainable text classification in legal document review</a:t>
                      </a:r>
                      <a:r>
                        <a:rPr lang="en-IN" sz="13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2019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Proposed explainable AI framework for legal doc classification.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workflow tracking or citizen communication.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5457">
                <a:tc>
                  <a:txBody>
                    <a:bodyPr/>
                    <a:lstStyle/>
                    <a:p>
                      <a:r>
                        <a:rPr lang="en-IN" sz="1300" b="1" dirty="0"/>
                        <a:t>Kumar, H., Kaushal, R. K., &amp; Kumar, N.</a:t>
                      </a:r>
                      <a:r>
                        <a:rPr lang="en-IN" sz="1300" dirty="0"/>
                        <a:t>. </a:t>
                      </a:r>
                      <a:r>
                        <a:rPr lang="en-IN" sz="1300" i="1" dirty="0"/>
                        <a:t>Issues with existing solutions for grievance redressal systems and mitigation approach using blockchain network</a:t>
                      </a:r>
                      <a:r>
                        <a:rPr lang="en-IN" sz="1300" dirty="0"/>
                        <a:t>. In Proc. 2nd (ICADSS)</a:t>
                      </a:r>
                      <a:endParaRPr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Analyzed problems in grievance systems and proposed blockchain for immutability, accountability, and tracking.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Blockchain improves trust, but does not address AI-driven categorization, urgency detection, or citizen communication.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021">
                <a:tc>
                  <a:txBody>
                    <a:bodyPr/>
                    <a:lstStyle/>
                    <a:p>
                      <a:r>
                        <a:rPr lang="en-US" sz="1300" b="1" dirty="0"/>
                        <a:t>Hossain, N.</a:t>
                      </a:r>
                      <a:r>
                        <a:rPr lang="en-US" sz="1300" dirty="0"/>
                        <a:t>. </a:t>
                      </a:r>
                      <a:r>
                        <a:rPr lang="en-US" sz="1300" i="1" dirty="0"/>
                        <a:t>A review of the literature on grievance redress mechanisms in the global South</a:t>
                      </a:r>
                      <a:r>
                        <a:rPr lang="en-US" sz="1300" dirty="0"/>
                        <a:t>. </a:t>
                      </a:r>
                      <a:r>
                        <a:rPr lang="en-US" sz="1300" i="1" dirty="0"/>
                        <a:t>Policy and Society</a:t>
                      </a:r>
                      <a:r>
                        <a:rPr lang="en-US" sz="1300" dirty="0"/>
                        <a:t> (Taylor &amp; Francis)</a:t>
                      </a:r>
                      <a:endParaRPr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2024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Reviewed grievance mechanisms, highlighting delays, lack of transparency, and citizen dissatisfaction.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Review-based; lacks technical AI/ML solutions for categorization, urgency, or progress reminders.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9930"/>
          </a:xfrm>
        </p:spPr>
        <p:txBody>
          <a:bodyPr>
            <a:normAutofit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(Products/Services)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023611"/>
              </p:ext>
            </p:extLst>
          </p:nvPr>
        </p:nvGraphicFramePr>
        <p:xfrm>
          <a:off x="186813" y="894736"/>
          <a:ext cx="8839199" cy="5817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0527">
                <a:tc>
                  <a:txBody>
                    <a:bodyPr/>
                    <a:lstStyle/>
                    <a:p>
                      <a:r>
                        <a:rPr sz="1600" b="1"/>
                        <a:t>Feature /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Product A</a:t>
                      </a:r>
                      <a:r>
                        <a:rPr lang="en-IN" sz="1600" dirty="0"/>
                        <a:t>(Legal Doc Classifier)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Product B (Case Mgmt. System)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Product C</a:t>
                      </a:r>
                      <a:r>
                        <a:rPr lang="en-IN" sz="1600" b="1" dirty="0"/>
                        <a:t>(</a:t>
                      </a:r>
                      <a:r>
                        <a:rPr lang="en-IN" sz="1600" dirty="0"/>
                        <a:t>Blockchain Grievance)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Our Approach</a:t>
                      </a:r>
                      <a:r>
                        <a:rPr lang="en-IN" sz="1600" dirty="0"/>
                        <a:t>(AI Grievance Tool)</a:t>
                      </a:r>
                      <a:endParaRPr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r>
                        <a:rPr sz="1600"/>
                        <a:t>Target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Lawyers, courts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Govt. departments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Public grievance cells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Citizens, govt. officials, petitioners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527">
                <a:tc>
                  <a:txBody>
                    <a:bodyPr/>
                    <a:lstStyle/>
                    <a:p>
                      <a:r>
                        <a:rPr sz="1600"/>
                        <a:t>Core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Classifies petitions by law area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Tracks case progress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Ensures transparency via blockchain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 categorization, urgency detection, reminders, updates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527">
                <a:tc>
                  <a:txBody>
                    <a:bodyPr/>
                    <a:lstStyle/>
                    <a:p>
                      <a:r>
                        <a:rPr sz="1600"/>
                        <a:t>Accuracy/Performance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~90% accuracy in classification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Moderate, rule-based tracking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transparency but no AI intelligence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AI+NLP + ML for high accuracy &amp; prioritization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r>
                        <a:rPr sz="16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(custom ML models)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Moderate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infra cost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Scalable &amp; optimized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79">
                <a:tc>
                  <a:txBody>
                    <a:bodyPr/>
                    <a:lstStyle/>
                    <a:p>
                      <a:r>
                        <a:rPr sz="1600" dirty="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Research/demo tools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Enterprise systems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Pilot stage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Cloud/mobile/web integration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744">
                <a:tc>
                  <a:txBody>
                    <a:bodyPr/>
                    <a:lstStyle/>
                    <a:p>
                      <a:r>
                        <a:rPr sz="1600"/>
                        <a:t>Data/Privacy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Limited privacy safeguards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Basic role-based access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(immutable ledger)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Secure AI + privacy compliance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r>
                        <a:rPr sz="1600" dirty="0"/>
                        <a:t>Known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 urgency detection/reminders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Manual categorization, slow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 AI categorization/alerts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Addresses all above gaps, end-to-end workflow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34" y="204816"/>
            <a:ext cx="8401665" cy="570936"/>
          </a:xfrm>
        </p:spPr>
        <p:txBody>
          <a:bodyPr>
            <a:normAutofit fontScale="90000"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Selling Proposition (USP)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134" y="811494"/>
            <a:ext cx="8401666" cy="5733334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 (for citizens &amp; officials):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Faster, transparent grievance handling with real-time updates and reduced backlog.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Differentiators: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categorization &amp; urgency detection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grievance identification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reminders for officials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communication to citizens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Cross-department progress tracking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Now: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petition volumes in Digital India era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NLP/AI make automation feasible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push for transparent e-governance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/ Early Signals: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Govt. reports highlighting delays &amp; backlogs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feedback on lack of updates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studies show AI cuts processing time significantly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petition datasets available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NLP/ML models for text classification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skills in AI, cloud, and APIs</a:t>
            </a:r>
          </a:p>
          <a:p>
            <a:pPr lvl="1">
              <a:buFont typeface="Times New Roman" panose="02020603050405020304" pitchFamily="18" charset="0"/>
              <a:buChar char="ᵜ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(misclassification, data privacy) mitigated via human review + secure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1775"/>
          </a:xfrm>
        </p:spPr>
        <p:txBody>
          <a:bodyPr>
            <a:normAutofit fontScale="90000"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78692"/>
              </p:ext>
            </p:extLst>
          </p:nvPr>
        </p:nvGraphicFramePr>
        <p:xfrm>
          <a:off x="137650" y="1007572"/>
          <a:ext cx="8868699" cy="5216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2347">
                <a:tc>
                  <a:txBody>
                    <a:bodyPr/>
                    <a:lstStyle/>
                    <a:p>
                      <a:r>
                        <a:rPr sz="1400" b="1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Start–End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Milestones/Deliverable</a:t>
                      </a:r>
                      <a:r>
                        <a:rPr lang="en-IN" sz="1400" b="1" dirty="0"/>
                        <a:t>s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Evidence of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684">
                <a:tc>
                  <a:txBody>
                    <a:bodyPr/>
                    <a:lstStyle/>
                    <a:p>
                      <a:r>
                        <a:rPr sz="1400"/>
                        <a:t>Problem &amp; Customer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17 Sep 2025 – 25 Sep 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Surveys, interviews with citizens &amp; officials, define pain points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Mentor &amp; customer feedback, requirement report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47">
                <a:tc>
                  <a:txBody>
                    <a:bodyPr/>
                    <a:lstStyle/>
                    <a:p>
                      <a:r>
                        <a:rPr sz="1400"/>
                        <a:t>Ideation (multiple concepts)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26 Sep 2025 – 10 Oct 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Brainstorm AI workflows, draft architecture, compare tech options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Mentor validation, shortlisted concepts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47">
                <a:tc>
                  <a:txBody>
                    <a:bodyPr/>
                    <a:lstStyle/>
                    <a:p>
                      <a:r>
                        <a:rPr sz="1400"/>
                        <a:t>Proof of Concept (PoC)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11 Oct 2025 – 31 Oct 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 small AI model for petition categorization &amp; urgency flag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Metrics: accuracy, F1-score; stakeholder demo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47">
                <a:tc>
                  <a:txBody>
                    <a:bodyPr/>
                    <a:lstStyle/>
                    <a:p>
                      <a:r>
                        <a:rPr sz="1400"/>
                        <a:t>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 Nov 2025 – 25 Nov 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Web dashboard + basic AI categorization + reminder alerts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Usability testing, official feedback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47">
                <a:tc>
                  <a:txBody>
                    <a:bodyPr/>
                    <a:lstStyle/>
                    <a:p>
                      <a:r>
                        <a:rPr sz="1400"/>
                        <a:t>Minimum Viable Product (MVP)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26 Nov 2025 – 20 Dec 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AI pipeline: categorization, urgent case flagging, reminders, progress tracking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Pilot testing with real petitions, mentor feedback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47">
                <a:tc>
                  <a:txBody>
                    <a:bodyPr/>
                    <a:lstStyle/>
                    <a:p>
                      <a:r>
                        <a:rPr sz="1400"/>
                        <a:t>Final Product /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21 Dec 2025 – 15 Jan 2025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Complete platform: AI analysis, reminders, transparency dashboard, petitioner status updates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Metrics (accuracy, response time), user adoption, stakeholder sign-off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Risks, Assumptions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46" y="1143000"/>
            <a:ext cx="8794954" cy="452596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Risks                                                                                   Assumptions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petition data                                                &gt;  Citizens &amp; officials will use the tool</a:t>
            </a:r>
          </a:p>
          <a:p>
            <a:pPr>
              <a:lnSpc>
                <a:spcPct val="17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compliance concerns                                              &gt;  APIs/datasets are available</a:t>
            </a:r>
          </a:p>
          <a:p>
            <a:pPr>
              <a:lnSpc>
                <a:spcPct val="17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accuracy for classification                                               &gt;  Adequate budget &amp; infrastructure</a:t>
            </a:r>
          </a:p>
          <a:p>
            <a:pPr marL="0" indent="0">
              <a:lnSpc>
                <a:spcPct val="170000"/>
              </a:lnSpc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                                                                             Mitigation Plan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Govt. departments &amp; grievance portals                                    &gt;  Secure data agreements &amp; anonymization</a:t>
            </a:r>
          </a:p>
          <a:p>
            <a:pPr>
              <a:lnSpc>
                <a:spcPct val="17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NLP/AI tools &amp; cloud services                                                &gt;  Training &amp; awareness for officials </a:t>
            </a:r>
          </a:p>
          <a:p>
            <a:pPr>
              <a:lnSpc>
                <a:spcPct val="17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APIs (SMS/email)                                         &gt;  Human-in-loop review for AI errors</a:t>
            </a:r>
          </a:p>
          <a:p>
            <a:pPr marL="0" indent="0">
              <a:lnSpc>
                <a:spcPct val="17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0936"/>
          </a:xfrm>
        </p:spPr>
        <p:txBody>
          <a:bodyPr>
            <a:normAutofit fontScale="90000"/>
          </a:bodyPr>
          <a:lstStyle/>
          <a:p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B07F5-AF4C-7A6E-5BC9-D151D668FAFE}"/>
              </a:ext>
            </a:extLst>
          </p:cNvPr>
          <p:cNvSpPr txBox="1"/>
          <p:nvPr/>
        </p:nvSpPr>
        <p:spPr>
          <a:xfrm>
            <a:off x="336755" y="1012954"/>
            <a:ext cx="847049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1. </a:t>
            </a:r>
            <a:r>
              <a:rPr lang="en-IN" sz="1400" b="1" dirty="0" err="1"/>
              <a:t>Noguti</a:t>
            </a:r>
            <a:r>
              <a:rPr lang="en-IN" sz="1400" b="1" dirty="0"/>
              <a:t> et al., 2020</a:t>
            </a:r>
            <a:endParaRPr lang="en-IN" sz="1400" dirty="0"/>
          </a:p>
          <a:p>
            <a:r>
              <a:rPr lang="en-IN" sz="1400" b="1" dirty="0"/>
              <a:t>Title:</a:t>
            </a:r>
            <a:r>
              <a:rPr lang="en-IN" sz="1400" dirty="0"/>
              <a:t> Legal Document Classification: An Application to Law Area Prediction of Petitions to Public Prosecution Service</a:t>
            </a:r>
          </a:p>
          <a:p>
            <a:r>
              <a:rPr lang="en-IN" sz="1400" b="1" dirty="0"/>
              <a:t>Authors:</a:t>
            </a:r>
            <a:r>
              <a:rPr lang="en-IN" sz="1400" dirty="0"/>
              <a:t> M. Y. </a:t>
            </a:r>
            <a:r>
              <a:rPr lang="en-IN" sz="1400" dirty="0" err="1"/>
              <a:t>Noguti</a:t>
            </a:r>
            <a:r>
              <a:rPr lang="en-IN" sz="1400" dirty="0"/>
              <a:t>, E. </a:t>
            </a:r>
            <a:r>
              <a:rPr lang="en-IN" sz="1400" dirty="0" err="1"/>
              <a:t>Vellasques</a:t>
            </a:r>
            <a:r>
              <a:rPr lang="en-IN" sz="1400" dirty="0"/>
              <a:t>, L. S. Oliveira</a:t>
            </a:r>
          </a:p>
          <a:p>
            <a:r>
              <a:rPr lang="en-IN" sz="1400" b="1" dirty="0"/>
              <a:t>Link:</a:t>
            </a:r>
            <a:r>
              <a:rPr lang="en-IN" sz="1400" dirty="0"/>
              <a:t> </a:t>
            </a:r>
            <a:r>
              <a:rPr lang="en-IN" sz="1400" dirty="0">
                <a:hlinkClick r:id="rId2"/>
              </a:rPr>
              <a:t>https://arxiv.org/abs/2010.12533</a:t>
            </a:r>
            <a:endParaRPr lang="en-IN" sz="1400" dirty="0"/>
          </a:p>
          <a:p>
            <a:r>
              <a:rPr lang="en-IN" sz="1400" b="1" dirty="0"/>
              <a:t>Summary:</a:t>
            </a:r>
            <a:r>
              <a:rPr lang="en-IN" sz="1400" dirty="0"/>
              <a:t> Used Word2Vec + LSTM for classifying legal petitions into law areas with ~90% accuracy. Lacks urgency detection and grievance tracking.</a:t>
            </a:r>
          </a:p>
          <a:p>
            <a:endParaRPr lang="en-IN" sz="1400" dirty="0"/>
          </a:p>
          <a:p>
            <a:r>
              <a:rPr lang="en-IN" sz="1400" b="1" dirty="0"/>
              <a:t>2. Malik et al., 2022</a:t>
            </a:r>
            <a:endParaRPr lang="en-IN" sz="1400" dirty="0"/>
          </a:p>
          <a:p>
            <a:r>
              <a:rPr lang="en-IN" sz="1400" b="1" dirty="0"/>
              <a:t>Title:</a:t>
            </a:r>
            <a:r>
              <a:rPr lang="en-IN" sz="1400" dirty="0"/>
              <a:t> Semantic Segmentation of Legal Documents via Rhetorical Roles</a:t>
            </a:r>
          </a:p>
          <a:p>
            <a:r>
              <a:rPr lang="en-IN" sz="1400" b="1" dirty="0"/>
              <a:t>Authors:</a:t>
            </a:r>
            <a:r>
              <a:rPr lang="en-IN" sz="1400" dirty="0"/>
              <a:t> V. Malik, R. Sanjay, S. K. Guha, A. Hazarika, S. K. Nigam, A. Bhattacharya, A. Modi</a:t>
            </a:r>
          </a:p>
          <a:p>
            <a:r>
              <a:rPr lang="en-IN" sz="1400" b="1" dirty="0"/>
              <a:t>Link:</a:t>
            </a:r>
            <a:r>
              <a:rPr lang="en-IN" sz="1400" dirty="0"/>
              <a:t> </a:t>
            </a:r>
            <a:r>
              <a:rPr lang="en-IN" sz="1400" dirty="0">
                <a:hlinkClick r:id="rId3"/>
              </a:rPr>
              <a:t>https://aclanthology.org/2022.nllp-1.13</a:t>
            </a:r>
            <a:endParaRPr lang="en-IN" sz="1400" dirty="0"/>
          </a:p>
          <a:p>
            <a:r>
              <a:rPr lang="en-IN" sz="1400" b="1" dirty="0"/>
              <a:t>Summary:</a:t>
            </a:r>
            <a:r>
              <a:rPr lang="en-IN" sz="1400" dirty="0"/>
              <a:t> Proposed segmentation of legal texts by rhetorical role to improve AI comprehension. Does not address petition prioritization or reminders.</a:t>
            </a:r>
          </a:p>
          <a:p>
            <a:endParaRPr lang="en-IN" sz="1400" dirty="0"/>
          </a:p>
          <a:p>
            <a:r>
              <a:rPr lang="en-IN" sz="1400" b="1" dirty="0"/>
              <a:t>3. Nigam et al., 2025</a:t>
            </a:r>
            <a:endParaRPr lang="en-IN" sz="1400" dirty="0"/>
          </a:p>
          <a:p>
            <a:r>
              <a:rPr lang="en-IN" sz="1400" b="1" dirty="0"/>
              <a:t>Title:</a:t>
            </a:r>
            <a:r>
              <a:rPr lang="en-IN" sz="1400" dirty="0"/>
              <a:t> </a:t>
            </a:r>
            <a:r>
              <a:rPr lang="en-IN" sz="1400" dirty="0" err="1"/>
              <a:t>LegalSeg</a:t>
            </a:r>
            <a:r>
              <a:rPr lang="en-IN" sz="1400" dirty="0"/>
              <a:t>: Unlocking the Structure of Indian Legal Judgments Through Rhetorical Role Classification</a:t>
            </a:r>
          </a:p>
          <a:p>
            <a:r>
              <a:rPr lang="en-IN" sz="1400" b="1" dirty="0"/>
              <a:t>Authors:</a:t>
            </a:r>
            <a:r>
              <a:rPr lang="en-IN" sz="1400" dirty="0"/>
              <a:t> S. K. Nigam, T. Dubey, G. Sharma, N. Shallum, K. Ghosh, A. Bhattacharya</a:t>
            </a:r>
          </a:p>
          <a:p>
            <a:r>
              <a:rPr lang="en-IN" sz="1400" b="1" dirty="0"/>
              <a:t>Link:</a:t>
            </a:r>
            <a:r>
              <a:rPr lang="en-IN" sz="1400" dirty="0"/>
              <a:t> </a:t>
            </a:r>
            <a:r>
              <a:rPr lang="en-IN" sz="1400" dirty="0">
                <a:hlinkClick r:id="rId4"/>
              </a:rPr>
              <a:t>https://arxiv.org/abs/2502.05836</a:t>
            </a:r>
            <a:endParaRPr lang="en-IN" sz="1400" dirty="0"/>
          </a:p>
          <a:p>
            <a:r>
              <a:rPr lang="en-IN" sz="1400" b="1" dirty="0"/>
              <a:t>Summary:</a:t>
            </a:r>
            <a:r>
              <a:rPr lang="en-IN" sz="1400" dirty="0"/>
              <a:t> Developed </a:t>
            </a:r>
            <a:r>
              <a:rPr lang="en-IN" sz="1400" dirty="0" err="1"/>
              <a:t>LegalSeg</a:t>
            </a:r>
            <a:r>
              <a:rPr lang="en-IN" sz="1400" dirty="0"/>
              <a:t> for Indian judgments using rhetorical role classification. Focused on judgments, not citizen petitions.</a:t>
            </a:r>
          </a:p>
          <a:p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1427</Words>
  <Application>Microsoft Office PowerPoint</Application>
  <PresentationFormat>On-screen Show (4:3)</PresentationFormat>
  <Paragraphs>182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Office Theme</vt:lpstr>
      <vt:lpstr>SoI Student Project Review</vt:lpstr>
      <vt:lpstr>Problem &amp; End User Identification</vt:lpstr>
      <vt:lpstr>Problem Description</vt:lpstr>
      <vt:lpstr>PowerPoint Presentation</vt:lpstr>
      <vt:lpstr>Literature Survey (Research)</vt:lpstr>
      <vt:lpstr>Existing Solutions (Products/Services)</vt:lpstr>
      <vt:lpstr>Unique Selling Proposition (USP)</vt:lpstr>
      <vt:lpstr>Project Plan &amp; Timeline</vt:lpstr>
      <vt:lpstr>Risks, Assumptions &amp; Dependencies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sarwinamuralikrishnan@outlook.com</cp:lastModifiedBy>
  <cp:revision>11</cp:revision>
  <dcterms:created xsi:type="dcterms:W3CDTF">2013-01-27T09:14:16Z</dcterms:created>
  <dcterms:modified xsi:type="dcterms:W3CDTF">2025-09-17T15:09:08Z</dcterms:modified>
  <cp:category/>
</cp:coreProperties>
</file>