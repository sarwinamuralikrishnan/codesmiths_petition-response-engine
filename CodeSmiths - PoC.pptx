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15238-3340-4201-8CD1-D927B738034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5044-0B14-4C09-AFF5-756894BF1E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2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 short, focused sprints. Keep the PoC within a few weeks. Update status as you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only what is necessary to prove the concept (hardware, datasets, APIs, cloud credits, software,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Attach graphs/screens, include data tables where possible. Link raw logs/notebooks where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technical, safety, privacy, compliance, and supply risks. Address early showstoppers.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rwinaMuralikrishnan/CodeSmiths_Petition-Response-Engine" TargetMode="External"/><Relationship Id="rId2" Type="http://schemas.openxmlformats.org/officeDocument/2006/relationships/hyperlink" Target="https://drive.google.com/drive/u/0/folders/1zZfebmIPqjWwBy6Dj8gVolrlmzwUfwt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6029" y="687480"/>
            <a:ext cx="5910300" cy="99417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4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r>
              <a:rPr lang="en-US" sz="3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Proof of Concept (PoC) Stage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6029" y="1941989"/>
            <a:ext cx="5710551" cy="4133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defRPr sz="1600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	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Petition Response Engine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	   	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CodeSmiths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defRPr sz="1600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		 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 Sarwina M</a:t>
            </a:r>
          </a:p>
          <a:p>
            <a:pPr algn="l">
              <a:lnSpc>
                <a:spcPct val="90000"/>
              </a:lnSpc>
              <a:defRPr sz="1600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	 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Sanjana S ,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Srinivetha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G ,</a:t>
            </a:r>
          </a:p>
          <a:p>
            <a:pPr algn="l">
              <a:lnSpc>
                <a:spcPct val="90000"/>
              </a:lnSpc>
              <a:defRPr sz="1600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Tharchana S , Kamalesh 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0000"/>
              </a:lnSpc>
              <a:defRPr sz="1600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	 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Mathew Valan D L</a:t>
            </a:r>
          </a:p>
          <a:p>
            <a:pPr algn="l">
              <a:lnSpc>
                <a:spcPct val="90000"/>
              </a:lnSpc>
              <a:defRPr sz="1600"/>
            </a:pPr>
            <a:r>
              <a:rPr lang="en-I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Vertical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</a:p>
          <a:p>
            <a:pPr algn="l">
              <a:lnSpc>
                <a:spcPct val="90000"/>
              </a:lnSpc>
              <a:defRPr sz="1600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Cohort	  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2024-28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1" name="Graphic 20" descr="Box">
            <a:extLst>
              <a:ext uri="{FF2B5EF4-FFF2-40B4-BE49-F238E27FC236}">
                <a16:creationId xmlns:a16="http://schemas.microsoft.com/office/drawing/2014/main" id="{34B26279-4573-78AE-7346-A16EC8DA5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End‑User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469" y="1309797"/>
            <a:ext cx="8445062" cy="5178972"/>
          </a:xfrm>
        </p:spPr>
        <p:txBody>
          <a:bodyPr>
            <a:normAutofit fontScale="250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alt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grievance systems are overwhelmed by high volumes of petitions, leading to slow, error-prone classification, delayed responses, and a lack of accountability. Urgent cases are often buried due to manual sorting and backlogs.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End-User/Context:</a:t>
            </a:r>
            <a:endParaRPr lang="en-US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   :</a:t>
            </a:r>
            <a:r>
              <a:rPr lang="en-US" alt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Citizens filing grievances, and </a:t>
            </a:r>
            <a:r>
              <a:rPr lang="en-US" altLang="en-US" sz="8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Officials</a:t>
            </a:r>
            <a:r>
              <a:rPr lang="en-US" alt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(Grievance Officers, Control Room Staff, Department Heads) handling them.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:</a:t>
            </a:r>
            <a:r>
              <a:rPr lang="en-US" alt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Administrative offices receiving hundreds of grievances daily, needing a clear, auditable trail.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Evidence:</a:t>
            </a:r>
            <a:endParaRPr lang="en-US" alt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reports highlighting delays, backlogs, and pending grievances.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on status is a major driver of repetitive petitions and follow-ups.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Metrics for the End-User:</a:t>
            </a:r>
            <a:r>
              <a:rPr lang="en-US" alt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 time, fewer classification errors/misclassifications, and timely status updates to citizens.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Idea Recap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Name: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Petition Response Engine (or Integrated Petition Management Platform).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One-line Pitch: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An AI-driven platform that uses NLP to instantly categorize,  prioritize, and track public petitions, ensuring timely resolution and transparency.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Faster, transparent grievance handling with real-time updates and reduced backlog for citizens and officials. It eliminates manual sorting and flags urgent cases immediately.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PoC Focus: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Validate the core AI function: Building a small ML model for petition categorization and urgency flagging.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PoC Objectives &amp; Success Criteria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2984949"/>
                  </p:ext>
                </p:extLst>
              </p:nvPr>
            </p:nvGraphicFramePr>
            <p:xfrm>
              <a:off x="391886" y="1417638"/>
              <a:ext cx="8360228" cy="4870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00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005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9005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9005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07794"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Critical Assumption / Question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2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Target Threshold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2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 Method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53991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NLP model can accurately categorize petitions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Categorization Accuracy (F1-score)</a:t>
                          </a:r>
                          <a:endParaRPr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IN" sz="200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≥</m:t>
                              </m:r>
                            </m:oMath>
                          </a14:m>
                          <a:r>
                            <a:rPr lang="en-IN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85%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Validation on 2000+ labeled historical petitions dataset</a:t>
                          </a:r>
                          <a:endParaRPr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53991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AI can flag urgent cases correctly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Urgency Flagging F1-score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200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≥</m:t>
                              </m:r>
                            </m:oMath>
                          </a14:m>
                          <a:r>
                            <a:rPr lang="en-IN" sz="2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85%</a:t>
                          </a:r>
                          <a:endParaRPr lang="en-I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 on a subset of labeled urgent/non-urgent cases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43485">
                    <a:tc>
                      <a:txBody>
                        <a:bodyPr/>
                        <a:lstStyle/>
                        <a:p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End-to-end workflow is functional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System Latency (Intake to Notification)</a:t>
                          </a:r>
                          <a:endParaRPr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IN" sz="200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5 seconds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Stakeholder demo and log verification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2984949"/>
                  </p:ext>
                </p:extLst>
              </p:nvPr>
            </p:nvGraphicFramePr>
            <p:xfrm>
              <a:off x="391886" y="1417638"/>
              <a:ext cx="8360228" cy="4870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00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9005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9005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9005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Critical Assumption / Question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2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Target Threshold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2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 Method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NLP model can accurately categorize petitions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Categorization Accuracy (F1-score)</a:t>
                          </a:r>
                          <a:endParaRPr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92" t="-79070" r="-101166" b="-196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Validation on 2000+ labeled historical petitions dataset</a:t>
                          </a:r>
                          <a:endParaRPr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AI can flag urgent cases correctly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Urgency Flagging F1-score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92" t="-178241" r="-101166" b="-95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 on a subset of labeled urgent/non-urgent cases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43485">
                    <a:tc>
                      <a:txBody>
                        <a:bodyPr/>
                        <a:lstStyle/>
                        <a:p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End-to-end workflow is functional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System Latency (Intake to Notification)</a:t>
                          </a:r>
                          <a:endParaRPr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92" t="-294608" r="-101166" b="-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Stakeholder demo and log verification</a:t>
                          </a:r>
                          <a:endParaRPr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234" y="498573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Scope, Assumptions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96" y="1893501"/>
            <a:ext cx="7875038" cy="4227382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Scope (PoC):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NLP Petition Categorization and Urgency Flagging model.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Tracking Workflow prototype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Petitioner Status Communication API (e.g., Email/SMS proof of concept).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 (for now):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SLA-based Reminder Engine.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Repetitive Grievance Detection.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integration with every legacy government IT system.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verification, AR/VR visualization.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petition data is available for AI training.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NLP/AI tools and Cloud services are accessible (e.g., Python/Hugging Face).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and officials will eventually use the tool.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— Architecture /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6B999-CEF8-286D-7F30-FE1CC4C057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biLevel thresh="75000"/>
          </a:blip>
          <a:stretch>
            <a:fillRect/>
          </a:stretch>
        </p:blipFill>
        <p:spPr>
          <a:xfrm>
            <a:off x="834570" y="1632857"/>
            <a:ext cx="7124442" cy="4791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754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Plan &amp; Timeline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9955739"/>
                  </p:ext>
                </p:extLst>
              </p:nvPr>
            </p:nvGraphicFramePr>
            <p:xfrm>
              <a:off x="242596" y="1118304"/>
              <a:ext cx="8714792" cy="52147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00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673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7869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7869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64083"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Phase / Week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Tasks / Milestones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Owner(s)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Status / Date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9453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Week 1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Collect and label dataset of 2000+ historical petitions.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Tharchana S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 cleaned and </a:t>
                          </a:r>
                          <a:r>
                            <a:rPr lang="en-IN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labeled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1879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Week 2 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Develop and train the NLP Classification model prototype (Python/Hugging Face).</a:t>
                          </a:r>
                          <a:endParaRPr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Srinivetha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 G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validated with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≥</m:t>
                              </m:r>
                            </m:oMath>
                          </a14:m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85% </a:t>
                          </a: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accuracy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64083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Week 3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Develop Dashboard &amp; Tracking Workflow prototype. Integrate AI and build the SMS/Email notification system.</a:t>
                          </a:r>
                          <a:endParaRPr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Kamalesh M, </a:t>
                          </a:r>
                        </a:p>
                        <a:p>
                          <a:r>
                            <a:rPr lang="fi-FI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Sanjana S,</a:t>
                          </a:r>
                        </a:p>
                        <a:p>
                          <a:r>
                            <a:rPr lang="fi-FI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Sarwina M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Functional E2E prototype for demo</a:t>
                          </a:r>
                          <a:endParaRPr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9955739"/>
                  </p:ext>
                </p:extLst>
              </p:nvPr>
            </p:nvGraphicFramePr>
            <p:xfrm>
              <a:off x="242596" y="1118304"/>
              <a:ext cx="8714792" cy="52147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005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673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7869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7869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64083"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Phase / Week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Tasks / Milestones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Owner(s)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Status / Date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9453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Week 1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Collect and label dataset of 2000+ historical petitions.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Tharchana S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Dataset cleaned and </a:t>
                          </a:r>
                          <a:r>
                            <a:rPr lang="en-IN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labeled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1879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Week 2 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Develop and train the NLP Classification model prototype (Python/Hugging Face).</a:t>
                          </a:r>
                          <a:endParaRPr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Srinivetha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 G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31325" r="-1117" b="-1208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Week 3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Develop Dashboard &amp; Tracking Workflow prototype. Integrate AI and build the SMS/Email notification system.</a:t>
                          </a:r>
                          <a:endParaRPr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i-FI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Kamalesh M, </a:t>
                          </a:r>
                        </a:p>
                        <a:p>
                          <a:r>
                            <a:rPr lang="fi-FI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Sanjana S,</a:t>
                          </a:r>
                        </a:p>
                        <a:p>
                          <a:r>
                            <a:rPr lang="fi-FI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Sarwina M</a:t>
                          </a:r>
                          <a:endParaRPr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pt-B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Functional E2E prototype for demo</a:t>
                          </a:r>
                          <a:endParaRPr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341567" cy="630431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&amp;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772131"/>
              </p:ext>
            </p:extLst>
          </p:nvPr>
        </p:nvGraphicFramePr>
        <p:xfrm>
          <a:off x="569166" y="1012987"/>
          <a:ext cx="8229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4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6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 /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 /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/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Petition Dataset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2000+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Petitions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Government Data Sources 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AI training and validation.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Model Development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3.x, Libraries (Pandas, Scikit-learn)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Open-Source/Personal Systems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tools for data analysis and model training.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AI Model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 Face/Transformer/BERT model 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for Classification &amp; Urgency Flagging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236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Hosting/API Server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Flask/Node.js running on local machine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 Devices/Open-Source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run the functional dashboard and receive petition text.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 API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SMS/Email API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500 - 1,500 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Twilio/SendGrid Trial/Low-Volume Plan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the Must-Have Petitioner Status Communication</a:t>
                      </a:r>
                      <a:endParaRPr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Laptop/Desktop with Python, VS Code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Team’s Personal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by all members for development and integration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5723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64286" cy="84442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&amp; Test Plan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9918" y="1025753"/>
                <a:ext cx="8406882" cy="5557610"/>
              </a:xfrm>
            </p:spPr>
            <p:txBody>
              <a:bodyPr>
                <a:noAutofit/>
              </a:bodyPr>
              <a:lstStyle/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Demo Scenario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What: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800100" lvl="2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Showcase the complete end-to-end flow:</a:t>
                </a:r>
              </a:p>
              <a:p>
                <a:pPr marL="1314450" lvl="3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Submit a new petition.</a:t>
                </a:r>
              </a:p>
              <a:p>
                <a:pPr marL="1314450" lvl="3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 instantly </a:t>
                </a: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categorizes and flags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 (URGENT/NORMAL).</a:t>
                </a:r>
              </a:p>
              <a:p>
                <a:pPr marL="1314450" lvl="3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Officer views the prioritized case on the </a:t>
                </a: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Dashboard prototype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314450" lvl="3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Automated </a:t>
                </a: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SMS/Email notification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sent to the petitioner.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Audience: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Mentors, Judges, and potential end-users (e.g., Grievance Officers).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 Protocols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 Validation:</a:t>
                </a: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57250" lvl="2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Run the model on </a:t>
                </a:r>
                <a14:m>
                  <m:oMath xmlns:m="http://schemas.openxmlformats.org/officeDocument/2006/math">
                    <m:r>
                      <a:rPr lang="en-IN" sz="160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16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100 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unseen historical petition samples</a:t>
                </a:r>
                <a:r>
                  <a:rPr lang="en-US" altLang="en-US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6666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57250" lvl="2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Verify categorization accuracy (</a:t>
                </a:r>
                <a14:m>
                  <m:oMath xmlns:m="http://schemas.openxmlformats.org/officeDocument/2006/math">
                    <m:r>
                      <a:rPr lang="en-IN" sz="160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16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85%) and urgency flagging accuracy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System Test:</a:t>
                </a: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57250" lvl="2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 5 end-to-end runs to measure system latency (Intake to Notification)</a:t>
                </a:r>
              </a:p>
              <a:p>
                <a:pPr marL="857250" lvl="2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notification reliability (SMS/Email API)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Dataset: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 a clean, test-split portion of the 2000+ labeled historical petition dataset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Pre-Demo Checklist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Confirm the </a:t>
                </a: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NLP Classification model prototype is loaded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active.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 the local </a:t>
                </a: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Tracking workflow/Dashboard is running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Verify the </a:t>
                </a:r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SMS/Email notification system is configured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functional.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 a backup video or screenshots ready in case of technical issues.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918" y="1025753"/>
                <a:ext cx="8406882" cy="5557610"/>
              </a:xfrm>
              <a:blipFill>
                <a:blip r:embed="rId2"/>
                <a:stretch>
                  <a:fillRect l="-435" t="-329" b="-3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2399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— Results &amp; Findings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3773275"/>
                  </p:ext>
                </p:extLst>
              </p:nvPr>
            </p:nvGraphicFramePr>
            <p:xfrm>
              <a:off x="335902" y="1110958"/>
              <a:ext cx="8472195" cy="5257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0729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815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443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443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9443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9187"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 (from criteria)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Target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Observed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Pass/Gap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 / Evidence Link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1625"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Petition Categorization Accuracy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IN" sz="1500" dirty="0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85 %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86.4 %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validated on the </a:t>
                          </a:r>
                          <a:r>
                            <a:rPr lang="en-US" sz="15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2,000 petition test </a:t>
                          </a:r>
                          <a:r>
                            <a:rPr lang="en-US" sz="1500" b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set.</a:t>
                          </a:r>
                          <a:r>
                            <a:rPr lang="en-US" sz="15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Used</a:t>
                          </a:r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BERT/Transformer prototype.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3124"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Urgency Flagging F1-score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1500" dirty="0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85 %</a:t>
                          </a:r>
                        </a:p>
                        <a:p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88.1 %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Tested with a sub-set of critical and non-critical petitions.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45121">
                    <a:tc>
                      <a:txBody>
                        <a:bodyPr/>
                        <a:lstStyle/>
                        <a:p>
                          <a:r>
                            <a:rPr lang="en-US" sz="1500" b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End-to-End System Latency</a:t>
                          </a:r>
                          <a:r>
                            <a:rPr lang="en-US" sz="15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sz="15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IN" sz="150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5 seconds</a:t>
                          </a:r>
                        </a:p>
                        <a:p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3.1</a:t>
                          </a: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seconds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Verified in the end-to-end prototype demo. Shows instant AI analysis.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01625"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Tracking Workflow Functionality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Functional status changes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100% Status Update Success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Dashboard prototype successfully displayed real-time classification and status updates.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3773275"/>
                  </p:ext>
                </p:extLst>
              </p:nvPr>
            </p:nvGraphicFramePr>
            <p:xfrm>
              <a:off x="335902" y="1110958"/>
              <a:ext cx="8472195" cy="5257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0729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815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443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9443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9443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 (from criteria)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Target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Observed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Pass/Gap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defRPr b="1"/>
                          </a:pPr>
                          <a:r>
                            <a:rPr sz="15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 / Evidence Link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34440"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Petition Categorization Accuracy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753" t="-45320" r="-287329" b="-28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86.4 %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 validated on the </a:t>
                          </a:r>
                          <a:r>
                            <a:rPr lang="en-US" sz="15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2,000 petition test </a:t>
                          </a:r>
                          <a:r>
                            <a:rPr lang="en-US" sz="1500" b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set.</a:t>
                          </a:r>
                          <a:r>
                            <a:rPr lang="en-US" sz="15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Used</a:t>
                          </a:r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BERT/Transformer prototype.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Urgency Flagging F1-score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753" t="-178788" r="-287329" b="-25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88.1 %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Tested with a sub-set of critical and non-critical petitions.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1500" b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End-to-End System Latency</a:t>
                          </a:r>
                          <a:r>
                            <a:rPr lang="en-US" sz="15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sz="15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753" t="-278788" r="-287329" b="-15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3.1</a:t>
                          </a:r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seconds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Verified in the end-to-end prototype demo. Shows instant AI analysis.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Tracking Workflow Functionality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Functional status changes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100% Status Update Success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Dashboard prototype successfully displayed real-time classification and status updates.</a:t>
                          </a:r>
                          <a:endParaRPr sz="15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Video &amp;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Video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https://drive.google.com/drive/u/0/folders/1zZfebmIPqjWwBy6Dj8gVolrlmzwUfwtd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 Link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https://github.com/SarwinaMuralikrishnan/CodeSmiths_Petition-Response-Engine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</a:t>
            </a:r>
          </a:p>
          <a:p>
            <a:pPr marL="0" indent="0">
              <a:buNone/>
            </a:pP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711AE-36C8-CD60-2962-E2F5D790A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615" y="4404664"/>
            <a:ext cx="2178698" cy="21786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3340"/>
            <a:ext cx="8126963" cy="453150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Risks, Limitations &amp; Mitigations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77836"/>
              </p:ext>
            </p:extLst>
          </p:nvPr>
        </p:nvGraphicFramePr>
        <p:xfrm>
          <a:off x="363895" y="833889"/>
          <a:ext cx="8416210" cy="5838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938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/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(H/M/L)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Likelihood (H/M/L)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/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8861"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Accuracy for Classification</a:t>
                      </a:r>
                      <a:endParaRPr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Human-in-the-loop review for AI errors and continuous model retraining</a:t>
                      </a:r>
                      <a:endParaRPr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Srinivetha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 G </a:t>
                      </a:r>
                    </a:p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Tharchana S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8861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Access to Petition Data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  <a:p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data agreements &amp; anonymization of sensitive information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Sarwina M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8861"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&amp; Compliance Concerns (Handling citizen data) </a:t>
                      </a:r>
                      <a:endParaRPr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data agreements and use of secure infrastructure.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Kamalesh M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6231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Govt. Officials not adopting/using the tool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  <a:p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  <a:p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training and awareness programs for officials. Ensure the tool is intuitive.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Sanjana S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754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Go/No‑Go &amp; Next Steps → Prototype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4563" y="984994"/>
                <a:ext cx="8332237" cy="5598368"/>
              </a:xfrm>
            </p:spPr>
            <p:txBody>
              <a:bodyPr>
                <a:noAutofit/>
              </a:bodyPr>
              <a:lstStyle/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Decision: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</a:t>
                </a:r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Rationale: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Core AI model for </a:t>
                </a: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categorization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urgency flagging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achieved target accuracy and proved rapid, end-to-end routing feasibility.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Prototype Plan (if Go):</a:t>
                </a:r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Scope: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Build the integrated platform, focusing on accountability and efficiency features (Should-Haves).</a:t>
                </a:r>
              </a:p>
              <a:p>
                <a:pPr marL="800100" lvl="2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 3 Improvements/Features:</a:t>
                </a:r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14450" lvl="3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 the Automated SLA-based Reminder Engine to officials.</a:t>
                </a:r>
              </a:p>
              <a:p>
                <a:pPr marL="1314450" lvl="3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the Repetitive Grievance Detection logic.</a:t>
                </a:r>
              </a:p>
              <a:p>
                <a:pPr marL="1314450" lvl="3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AutoNum type="arabicPeriod"/>
                </a:pP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the Unified Official Dashboard for transparent, cross-department tracking.</a:t>
                </a:r>
              </a:p>
              <a:p>
                <a:pPr marL="857250" lvl="2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Timeline: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November 1, 2025 – November 25, 2025 (Prototype Stage). 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Resources: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Cloud/local hosting, notification API credits, and dedicated team effort.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KPIs to Carry Forward (Prototype/MVP Stage):</a:t>
                </a:r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Accuracy: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 Classification Accuracy to </a:t>
                </a:r>
                <a14:m>
                  <m:oMath xmlns:m="http://schemas.openxmlformats.org/officeDocument/2006/math">
                    <m:r>
                      <a:rPr lang="en-US" altLang="en-US" sz="1700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700" dirty="0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altLang="en-US" sz="1700" i="0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Adoption: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Achieve target official usage/adoption rate.</a:t>
                </a:r>
              </a:p>
              <a:p>
                <a:pPr marL="400050" lvl="1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Efficiency:</a:t>
                </a:r>
                <a:r>
                  <a:rPr lang="en-US" alt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Validate reduction in manual work (e.g., time on duplicates). </a:t>
                </a:r>
              </a:p>
              <a:p>
                <a:pPr marL="0" lvl="0" indent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563" y="984994"/>
                <a:ext cx="8332237" cy="5598368"/>
              </a:xfrm>
              <a:blipFill>
                <a:blip r:embed="rId2"/>
                <a:stretch>
                  <a:fillRect l="-439" t="-327" r="-146" b="-4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Annex — Domain-Specific Checklist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84149C-01C5-3311-72D7-BC23F217CEA9}"/>
                  </a:ext>
                </a:extLst>
              </p:cNvPr>
              <p:cNvSpPr txBox="1"/>
              <p:nvPr/>
            </p:nvSpPr>
            <p:spPr>
              <a:xfrm>
                <a:off x="457200" y="1996751"/>
                <a:ext cx="8353426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 Provenance: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Confirmed the collection and labeling of a dataset of </a:t>
                </a: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2000+ historical petitions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 &amp; Target Metrics:</a:t>
                </a: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Metric: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Classification model accuracy </a:t>
                </a:r>
                <a14:m>
                  <m:oMath xmlns:m="http://schemas.openxmlformats.org/officeDocument/2006/math">
                    <m:r>
                      <a:rPr lang="en-IN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85%</a:t>
                </a:r>
              </a:p>
              <a:p>
                <a:pPr lvl="2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Baseline: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Manual systems have high rates of misclassification </a:t>
                </a:r>
                <a:r>
                  <a:rPr lang="en-US" alt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upto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15 %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Train/Val/Test Split: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Defined the strategy for splitting the petition dataset to ensure accurate measurement of the model's performance on unseen data</a:t>
                </a:r>
                <a:r>
                  <a:rPr lang="en-US" alt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44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Card: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Required to document the model's use-case, architecture (e.g., Transformer/BERT), required inputs, and known risks (e.g., misclassification)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Ethics/Privacy: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Addressed data privacy concerns through a mitigation plan involving </a:t>
                </a: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anonymization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secure data agreements</a:t>
                </a: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84149C-01C5-3311-72D7-BC23F217C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96751"/>
                <a:ext cx="8353426" cy="3970318"/>
              </a:xfrm>
              <a:prstGeom prst="rect">
                <a:avLst/>
              </a:prstGeom>
              <a:blipFill>
                <a:blip r:embed="rId2"/>
                <a:stretch>
                  <a:fillRect l="-438" t="-922" r="-1095" b="-15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7" ma:contentTypeDescription="Create a new document." ma:contentTypeScope="" ma:versionID="5ccebff34a8e51cede8d0bf61d443c7c">
  <xsd:schema xmlns:xsd="http://www.w3.org/2001/XMLSchema" xmlns:xs="http://www.w3.org/2001/XMLSchema" xmlns:p="http://schemas.microsoft.com/office/2006/metadata/properties" xmlns:ns2="8f4bcbf8-e4fe-49fe-9064-aa6724e1aff7" targetNamespace="http://schemas.microsoft.com/office/2006/metadata/properties" ma:root="true" ma:fieldsID="1abc57e4fbbc961d7f15fd72e71dc129" ns2:_="">
    <xsd:import namespace="8f4bcbf8-e4fe-49fe-9064-aa6724e1af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15EA54-D5F3-44F3-B83F-AF6ABF1CDB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48CAE9F-5F9A-4FBA-8466-BB0E0BC2D4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9BAA75-7199-496C-83BB-72595745D1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4bcbf8-e4fe-49fe-9064-aa6724e1af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1566</Words>
  <Application>Microsoft Office PowerPoint</Application>
  <PresentationFormat>On-screen Show (4:3)</PresentationFormat>
  <Paragraphs>233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 Math</vt:lpstr>
      <vt:lpstr>Times New Roman</vt:lpstr>
      <vt:lpstr>Office Theme</vt:lpstr>
      <vt:lpstr>SoI — Proof of Concept (PoC) Stage Template</vt:lpstr>
      <vt:lpstr>Problem &amp; End‑User Recap</vt:lpstr>
      <vt:lpstr>Selected Idea Recap &amp; Value Proposition</vt:lpstr>
      <vt:lpstr>PoC Objectives &amp; Success Criteria</vt:lpstr>
      <vt:lpstr>Scope, Assumptions &amp; Constraints</vt:lpstr>
      <vt:lpstr>System Overview — Architecture / Design</vt:lpstr>
      <vt:lpstr>Build Plan &amp; Timeline</vt:lpstr>
      <vt:lpstr>Resources &amp; Budget</vt:lpstr>
      <vt:lpstr>Demo &amp; Test Plan</vt:lpstr>
      <vt:lpstr>Evidence — Results &amp; Findings</vt:lpstr>
      <vt:lpstr>Demo Video &amp; Repositories</vt:lpstr>
      <vt:lpstr>Risks, Limitations &amp; Mitigations</vt:lpstr>
      <vt:lpstr>Go/No‑Go &amp; Next Steps → Prototype</vt:lpstr>
      <vt:lpstr>Annex — Domain-Specific Checklist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Thiruvaazhi Uloli</dc:creator>
  <cp:keywords/>
  <dc:description>generated using python-pptx</dc:description>
  <cp:lastModifiedBy>sarwinamuralikrishnan@outlook.com</cp:lastModifiedBy>
  <cp:revision>11</cp:revision>
  <dcterms:created xsi:type="dcterms:W3CDTF">2013-01-27T09:14:16Z</dcterms:created>
  <dcterms:modified xsi:type="dcterms:W3CDTF">2025-11-03T14:43:34Z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0x0101004AD9324C02AF684081B0638F841F77A7</vt:lpwstr>
  </property>
</Properties>
</file>